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Roboto" charset="1" panose="02000000000000000000"/>
      <p:regular r:id="rId26"/>
    </p:embeddedFont>
    <p:embeddedFont>
      <p:font typeface="Carlsons Script" charset="1" panose="00000500000000000000"/>
      <p:regular r:id="rId27"/>
    </p:embeddedFont>
    <p:embeddedFont>
      <p:font typeface="Noto Serif Display ExtraCondensed" charset="1" panose="02020506080505020204"/>
      <p:regular r:id="rId28"/>
    </p:embeddedFont>
    <p:embeddedFont>
      <p:font typeface="Roboto Italics" charset="1" panose="02000000000000000000"/>
      <p:regular r:id="rId29"/>
    </p:embeddedFont>
    <p:embeddedFont>
      <p:font typeface="Roboto Bold Italics" charset="1" panose="02000000000000000000"/>
      <p:regular r:id="rId30"/>
    </p:embeddedFont>
    <p:embeddedFont>
      <p:font typeface="Roboto Bold" charset="1" panose="02000000000000000000"/>
      <p:regular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fonts/font30.fntdata" Type="http://schemas.openxmlformats.org/officeDocument/2006/relationships/font"/><Relationship Id="rId31" Target="fonts/font31.fntdata" Type="http://schemas.openxmlformats.org/officeDocument/2006/relationships/font"/><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https://www.kaggle.com/datasets/fedesoriano/heart-failure-prediction" TargetMode="External" Type="http://schemas.openxmlformats.org/officeDocument/2006/relationships/hyperlink"/><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png" Type="http://schemas.openxmlformats.org/officeDocument/2006/relationships/image"/><Relationship Id="rId2" Target="../media/image1.jpeg" Type="http://schemas.openxmlformats.org/officeDocument/2006/relationships/image"/><Relationship Id="rId3" Target="../media/image10.png" Type="http://schemas.openxmlformats.org/officeDocument/2006/relationships/image"/><Relationship Id="rId4" Target="../media/image11.svg" Type="http://schemas.openxmlformats.org/officeDocument/2006/relationships/image"/><Relationship Id="rId5" Target="../media/image12.png" Type="http://schemas.openxmlformats.org/officeDocument/2006/relationships/image"/><Relationship Id="rId6" Target="../media/image13.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6.png" Type="http://schemas.openxmlformats.org/officeDocument/2006/relationships/image"/><Relationship Id="rId5" Target="../media/image17.svg" Type="http://schemas.openxmlformats.org/officeDocument/2006/relationships/image"/><Relationship Id="rId6"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svg" Type="http://schemas.openxmlformats.org/officeDocument/2006/relationships/image"/><Relationship Id="rId11" Target="../media/image8.png" Type="http://schemas.openxmlformats.org/officeDocument/2006/relationships/image"/><Relationship Id="rId12" Target="../media/image23.png" Type="http://schemas.openxmlformats.org/officeDocument/2006/relationships/image"/><Relationship Id="rId13" Target="../media/image24.svg" Type="http://schemas.openxmlformats.org/officeDocument/2006/relationships/image"/><Relationship Id="rId2" Target="../media/image1.jpeg" Type="http://schemas.openxmlformats.org/officeDocument/2006/relationships/image"/><Relationship Id="rId3" Target="../media/image18.png" Type="http://schemas.openxmlformats.org/officeDocument/2006/relationships/image"/><Relationship Id="rId4" Target="../media/image7.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19.png" Type="http://schemas.openxmlformats.org/officeDocument/2006/relationships/image"/><Relationship Id="rId8" Target="../media/image20.jpeg" Type="http://schemas.openxmlformats.org/officeDocument/2006/relationships/image"/><Relationship Id="rId9" Target="../media/image21.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png" Type="http://schemas.openxmlformats.org/officeDocument/2006/relationships/image"/><Relationship Id="rId11" Target="../media/image6.svg" Type="http://schemas.openxmlformats.org/officeDocument/2006/relationships/image"/><Relationship Id="rId12" Target="../media/image8.png" Type="http://schemas.openxmlformats.org/officeDocument/2006/relationships/image"/><Relationship Id="rId13" Target="../media/image29.png" Type="http://schemas.openxmlformats.org/officeDocument/2006/relationships/image"/><Relationship Id="rId2" Target="../media/image1.jpeg" Type="http://schemas.openxmlformats.org/officeDocument/2006/relationships/image"/><Relationship Id="rId3" Target="../media/image25.png" Type="http://schemas.openxmlformats.org/officeDocument/2006/relationships/image"/><Relationship Id="rId4" Target="../media/image26.svg" Type="http://schemas.openxmlformats.org/officeDocument/2006/relationships/image"/><Relationship Id="rId5" Target="../media/image18.png" Type="http://schemas.openxmlformats.org/officeDocument/2006/relationships/image"/><Relationship Id="rId6" Target="../media/image7.png" Type="http://schemas.openxmlformats.org/officeDocument/2006/relationships/image"/><Relationship Id="rId7" Target="../media/image9.png" Type="http://schemas.openxmlformats.org/officeDocument/2006/relationships/image"/><Relationship Id="rId8" Target="../media/image27.png" Type="http://schemas.openxmlformats.org/officeDocument/2006/relationships/image"/><Relationship Id="rId9" Target="../media/image28.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3.svg" Type="http://schemas.openxmlformats.org/officeDocument/2006/relationships/image"/><Relationship Id="rId11" Target="../media/image34.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27.png" Type="http://schemas.openxmlformats.org/officeDocument/2006/relationships/image"/><Relationship Id="rId6" Target="../media/image28.svg" Type="http://schemas.openxmlformats.org/officeDocument/2006/relationships/image"/><Relationship Id="rId7" Target="../media/image30.png" Type="http://schemas.openxmlformats.org/officeDocument/2006/relationships/image"/><Relationship Id="rId8" Target="../media/image31.svg" Type="http://schemas.openxmlformats.org/officeDocument/2006/relationships/image"/><Relationship Id="rId9" Target="../media/image3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2.svg" Type="http://schemas.openxmlformats.org/officeDocument/2006/relationships/image"/><Relationship Id="rId11" Target="../media/image2.png" Type="http://schemas.openxmlformats.org/officeDocument/2006/relationships/image"/><Relationship Id="rId12" Target="../media/image5.png" Type="http://schemas.openxmlformats.org/officeDocument/2006/relationships/image"/><Relationship Id="rId13" Target="../media/image6.svg" Type="http://schemas.openxmlformats.org/officeDocument/2006/relationships/image"/><Relationship Id="rId14" Target="../media/image43.png" Type="http://schemas.openxmlformats.org/officeDocument/2006/relationships/image"/><Relationship Id="rId15" Target="../media/image44.svg" Type="http://schemas.openxmlformats.org/officeDocument/2006/relationships/image"/><Relationship Id="rId16" Target="../media/image45.png" Type="http://schemas.openxmlformats.org/officeDocument/2006/relationships/image"/><Relationship Id="rId17" Target="../media/image46.png" Type="http://schemas.openxmlformats.org/officeDocument/2006/relationships/image"/><Relationship Id="rId18" Target="../media/image47.png" Type="http://schemas.openxmlformats.org/officeDocument/2006/relationships/image"/><Relationship Id="rId2" Target="../media/image1.jpe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39.png" Type="http://schemas.openxmlformats.org/officeDocument/2006/relationships/image"/><Relationship Id="rId8" Target="../media/image40.svg" Type="http://schemas.openxmlformats.org/officeDocument/2006/relationships/image"/><Relationship Id="rId9" Target="../media/image4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png" Type="http://schemas.openxmlformats.org/officeDocument/2006/relationships/image"/><Relationship Id="rId12" Target="../media/image42.svg" Type="http://schemas.openxmlformats.org/officeDocument/2006/relationships/image"/><Relationship Id="rId13" Target="../media/image2.png" Type="http://schemas.openxmlformats.org/officeDocument/2006/relationships/image"/><Relationship Id="rId14" Target="../media/image5.png" Type="http://schemas.openxmlformats.org/officeDocument/2006/relationships/image"/><Relationship Id="rId15" Target="../media/image6.svg" Type="http://schemas.openxmlformats.org/officeDocument/2006/relationships/image"/><Relationship Id="rId16" Target="../media/image43.png" Type="http://schemas.openxmlformats.org/officeDocument/2006/relationships/image"/><Relationship Id="rId17" Target="../media/image44.svg" Type="http://schemas.openxmlformats.org/officeDocument/2006/relationships/image"/><Relationship Id="rId18" Target="../media/image50.png" Type="http://schemas.openxmlformats.org/officeDocument/2006/relationships/image"/><Relationship Id="rId19" Target="../media/image51.png" Type="http://schemas.openxmlformats.org/officeDocument/2006/relationships/image"/><Relationship Id="rId2" Target="../media/image1.jpeg" Type="http://schemas.openxmlformats.org/officeDocument/2006/relationships/image"/><Relationship Id="rId20" Target="../media/image52.png" Type="http://schemas.openxmlformats.org/officeDocument/2006/relationships/image"/><Relationship Id="rId3" Target="../media/image35.png" Type="http://schemas.openxmlformats.org/officeDocument/2006/relationships/image"/><Relationship Id="rId4" Target="../media/image36.svg" Type="http://schemas.openxmlformats.org/officeDocument/2006/relationships/image"/><Relationship Id="rId5" Target="../media/image37.png" Type="http://schemas.openxmlformats.org/officeDocument/2006/relationships/image"/><Relationship Id="rId6" Target="../media/image38.svg" Type="http://schemas.openxmlformats.org/officeDocument/2006/relationships/image"/><Relationship Id="rId7" Target="../media/image48.png" Type="http://schemas.openxmlformats.org/officeDocument/2006/relationships/image"/><Relationship Id="rId8" Target="../media/image49.svg" Type="http://schemas.openxmlformats.org/officeDocument/2006/relationships/image"/><Relationship Id="rId9" Target="../media/image3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57.png" Type="http://schemas.openxmlformats.org/officeDocument/2006/relationships/image"/><Relationship Id="rId12" Target="../media/image58.png" Type="http://schemas.openxmlformats.org/officeDocument/2006/relationships/image"/><Relationship Id="rId13" Target="../media/image59.png" Type="http://schemas.openxmlformats.org/officeDocument/2006/relationships/image"/><Relationship Id="rId14" Target="../media/image60.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61.png" Type="http://schemas.openxmlformats.org/officeDocument/2006/relationships/image"/><Relationship Id="rId12" Target="../media/image62.png" Type="http://schemas.openxmlformats.org/officeDocument/2006/relationships/image"/><Relationship Id="rId13" Target="../media/image63.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svg" Type="http://schemas.openxmlformats.org/officeDocument/2006/relationships/image"/><Relationship Id="rId11" Target="../media/image9.png" Type="http://schemas.openxmlformats.org/officeDocument/2006/relationships/image"/><Relationship Id="rId12" Target="../media/image66.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64.png" Type="http://schemas.openxmlformats.org/officeDocument/2006/relationships/image"/><Relationship Id="rId6" Target="../media/image65.svg" Type="http://schemas.openxmlformats.org/officeDocument/2006/relationships/image"/><Relationship Id="rId7" Target="../media/image14.png" Type="http://schemas.openxmlformats.org/officeDocument/2006/relationships/image"/><Relationship Id="rId8" Target="../media/image15.svg" Type="http://schemas.openxmlformats.org/officeDocument/2006/relationships/image"/><Relationship Id="rId9" Target="../media/image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67.png" Type="http://schemas.openxmlformats.org/officeDocument/2006/relationships/image"/><Relationship Id="rId12" Target="../media/image68.png" Type="http://schemas.openxmlformats.org/officeDocument/2006/relationships/image"/><Relationship Id="rId13" Target="../media/image69.png" Type="http://schemas.openxmlformats.org/officeDocument/2006/relationships/image"/><Relationship Id="rId14" Target="../media/image70.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71.png" Type="http://schemas.openxmlformats.org/officeDocument/2006/relationships/image"/><Relationship Id="rId12" Target="../media/image72.png" Type="http://schemas.openxmlformats.org/officeDocument/2006/relationships/image"/><Relationship Id="rId13" Target="../media/image73.png" Type="http://schemas.openxmlformats.org/officeDocument/2006/relationships/image"/><Relationship Id="rId14" Target="../media/image74.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75.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media/image76.pn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5.png" Type="http://schemas.openxmlformats.org/officeDocument/2006/relationships/image"/><Relationship Id="rId5" Target="../media/image6.svg" Type="http://schemas.openxmlformats.org/officeDocument/2006/relationships/image"/><Relationship Id="rId6" Target="../media/image53.png" Type="http://schemas.openxmlformats.org/officeDocument/2006/relationships/image"/><Relationship Id="rId7" Target="../media/image54.svg" Type="http://schemas.openxmlformats.org/officeDocument/2006/relationships/image"/><Relationship Id="rId8" Target="../media/image55.png" Type="http://schemas.openxmlformats.org/officeDocument/2006/relationships/image"/><Relationship Id="rId9" Target="../media/image56.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6.svg" Type="http://schemas.openxmlformats.org/officeDocument/2006/relationships/image"/><Relationship Id="rId11" Target="https://www.kaggle.com/datasets/fedesoriano/heart-failure-prediction" TargetMode="External" Type="http://schemas.openxmlformats.org/officeDocument/2006/relationships/hyperlink"/><Relationship Id="rId12" Target="https://www.kaggle.com/datasets/fedesoriano/heart-failure-prediction" TargetMode="External" Type="http://schemas.openxmlformats.org/officeDocument/2006/relationships/hyperlink"/><Relationship Id="rId13" Target="https://www.kaggle.com/datasets/fedesoriano/heart-failure-prediction" TargetMode="External" Type="http://schemas.openxmlformats.org/officeDocument/2006/relationships/hyperlink"/><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 Id="rId5" Target="../media/image5.png" Type="http://schemas.openxmlformats.org/officeDocument/2006/relationships/image"/><Relationship Id="rId6" Target="../media/image6.svg" Type="http://schemas.openxmlformats.org/officeDocument/2006/relationships/image"/><Relationship Id="rId7" Target="../media/image53.png" Type="http://schemas.openxmlformats.org/officeDocument/2006/relationships/image"/><Relationship Id="rId8" Target="../media/image54.svg" Type="http://schemas.openxmlformats.org/officeDocument/2006/relationships/image"/><Relationship Id="rId9" Target="../media/image55.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77.png" Type="http://schemas.openxmlformats.org/officeDocument/2006/relationships/image"/><Relationship Id="rId12" Target="../media/image78.svg" Type="http://schemas.openxmlformats.org/officeDocument/2006/relationships/image"/><Relationship Id="rId13" Target="../media/image79.png" Type="http://schemas.openxmlformats.org/officeDocument/2006/relationships/image"/><Relationship Id="rId14" Target="../media/image80.svg" Type="http://schemas.openxmlformats.org/officeDocument/2006/relationships/image"/><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4564441">
            <a:off x="-6344982" y="1380781"/>
            <a:ext cx="10305542" cy="7609138"/>
          </a:xfrm>
          <a:custGeom>
            <a:avLst/>
            <a:gdLst/>
            <a:ahLst/>
            <a:cxnLst/>
            <a:rect r="r" b="b" t="t" l="l"/>
            <a:pathLst>
              <a:path h="7609138" w="10305542">
                <a:moveTo>
                  <a:pt x="0" y="0"/>
                </a:moveTo>
                <a:lnTo>
                  <a:pt x="10305542" y="0"/>
                </a:lnTo>
                <a:lnTo>
                  <a:pt x="10305542" y="7609138"/>
                </a:lnTo>
                <a:lnTo>
                  <a:pt x="0" y="7609138"/>
                </a:lnTo>
                <a:lnTo>
                  <a:pt x="0" y="0"/>
                </a:lnTo>
                <a:close/>
              </a:path>
            </a:pathLst>
          </a:custGeom>
          <a:blipFill>
            <a:blip r:embed="rId3"/>
            <a:stretch>
              <a:fillRect l="0" t="0" r="0" b="0"/>
            </a:stretch>
          </a:blipFill>
        </p:spPr>
      </p:sp>
      <p:sp>
        <p:nvSpPr>
          <p:cNvPr name="Freeform 4" id="4"/>
          <p:cNvSpPr/>
          <p:nvPr/>
        </p:nvSpPr>
        <p:spPr>
          <a:xfrm flipH="false" flipV="false" rot="0">
            <a:off x="15982144" y="4594921"/>
            <a:ext cx="1000151" cy="1020563"/>
          </a:xfrm>
          <a:custGeom>
            <a:avLst/>
            <a:gdLst/>
            <a:ahLst/>
            <a:cxnLst/>
            <a:rect r="r" b="b" t="t" l="l"/>
            <a:pathLst>
              <a:path h="1020563" w="1000151">
                <a:moveTo>
                  <a:pt x="0" y="0"/>
                </a:moveTo>
                <a:lnTo>
                  <a:pt x="1000151" y="0"/>
                </a:lnTo>
                <a:lnTo>
                  <a:pt x="1000151" y="1020563"/>
                </a:lnTo>
                <a:lnTo>
                  <a:pt x="0" y="10205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3302146" y="729475"/>
            <a:ext cx="876988" cy="876988"/>
          </a:xfrm>
          <a:custGeom>
            <a:avLst/>
            <a:gdLst/>
            <a:ahLst/>
            <a:cxnLst/>
            <a:rect r="r" b="b" t="t" l="l"/>
            <a:pathLst>
              <a:path h="876988" w="876988">
                <a:moveTo>
                  <a:pt x="0" y="0"/>
                </a:moveTo>
                <a:lnTo>
                  <a:pt x="876988" y="0"/>
                </a:lnTo>
                <a:lnTo>
                  <a:pt x="876988" y="876988"/>
                </a:lnTo>
                <a:lnTo>
                  <a:pt x="0" y="8769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 id="6"/>
          <p:cNvGrpSpPr/>
          <p:nvPr/>
        </p:nvGrpSpPr>
        <p:grpSpPr>
          <a:xfrm rot="0">
            <a:off x="5731168" y="7248754"/>
            <a:ext cx="6359796" cy="1146897"/>
            <a:chOff x="0" y="0"/>
            <a:chExt cx="1675008" cy="302064"/>
          </a:xfrm>
        </p:grpSpPr>
        <p:sp>
          <p:nvSpPr>
            <p:cNvPr name="Freeform 7" id="7"/>
            <p:cNvSpPr/>
            <p:nvPr/>
          </p:nvSpPr>
          <p:spPr>
            <a:xfrm flipH="false" flipV="false" rot="0">
              <a:off x="0" y="0"/>
              <a:ext cx="1675008" cy="302064"/>
            </a:xfrm>
            <a:custGeom>
              <a:avLst/>
              <a:gdLst/>
              <a:ahLst/>
              <a:cxnLst/>
              <a:rect r="r" b="b" t="t" l="l"/>
              <a:pathLst>
                <a:path h="302064" w="1675008">
                  <a:moveTo>
                    <a:pt x="121732" y="0"/>
                  </a:moveTo>
                  <a:lnTo>
                    <a:pt x="1553276" y="0"/>
                  </a:lnTo>
                  <a:cubicBezTo>
                    <a:pt x="1585561" y="0"/>
                    <a:pt x="1616524" y="12825"/>
                    <a:pt x="1639353" y="35655"/>
                  </a:cubicBezTo>
                  <a:cubicBezTo>
                    <a:pt x="1662183" y="58484"/>
                    <a:pt x="1675008" y="89447"/>
                    <a:pt x="1675008" y="121732"/>
                  </a:cubicBezTo>
                  <a:lnTo>
                    <a:pt x="1675008" y="180331"/>
                  </a:lnTo>
                  <a:cubicBezTo>
                    <a:pt x="1675008" y="212617"/>
                    <a:pt x="1662183" y="243580"/>
                    <a:pt x="1639353" y="266409"/>
                  </a:cubicBezTo>
                  <a:cubicBezTo>
                    <a:pt x="1616524" y="289238"/>
                    <a:pt x="1585561" y="302064"/>
                    <a:pt x="1553276" y="302064"/>
                  </a:cubicBezTo>
                  <a:lnTo>
                    <a:pt x="121732" y="302064"/>
                  </a:lnTo>
                  <a:cubicBezTo>
                    <a:pt x="89447" y="302064"/>
                    <a:pt x="58484" y="289238"/>
                    <a:pt x="35655" y="266409"/>
                  </a:cubicBezTo>
                  <a:cubicBezTo>
                    <a:pt x="12825" y="243580"/>
                    <a:pt x="0" y="212617"/>
                    <a:pt x="0" y="180331"/>
                  </a:cubicBezTo>
                  <a:lnTo>
                    <a:pt x="0" y="121732"/>
                  </a:lnTo>
                  <a:cubicBezTo>
                    <a:pt x="0" y="89447"/>
                    <a:pt x="12825" y="58484"/>
                    <a:pt x="35655" y="35655"/>
                  </a:cubicBezTo>
                  <a:cubicBezTo>
                    <a:pt x="58484" y="12825"/>
                    <a:pt x="89447" y="0"/>
                    <a:pt x="121732" y="0"/>
                  </a:cubicBezTo>
                  <a:close/>
                </a:path>
              </a:pathLst>
            </a:custGeom>
            <a:solidFill>
              <a:srgbClr val="C5D3FF"/>
            </a:solidFill>
            <a:ln w="38100" cap="rnd">
              <a:solidFill>
                <a:srgbClr val="FFFFFF"/>
              </a:solidFill>
              <a:prstDash val="solid"/>
              <a:round/>
            </a:ln>
          </p:spPr>
        </p:sp>
        <p:sp>
          <p:nvSpPr>
            <p:cNvPr name="TextBox 8" id="8"/>
            <p:cNvSpPr txBox="true"/>
            <p:nvPr/>
          </p:nvSpPr>
          <p:spPr>
            <a:xfrm>
              <a:off x="0" y="-38100"/>
              <a:ext cx="1675008" cy="340164"/>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6425690" y="7346080"/>
            <a:ext cx="4953929" cy="847470"/>
          </a:xfrm>
          <a:prstGeom prst="rect">
            <a:avLst/>
          </a:prstGeom>
        </p:spPr>
        <p:txBody>
          <a:bodyPr anchor="t" rtlCol="false" tIns="0" lIns="0" bIns="0" rIns="0">
            <a:spAutoFit/>
          </a:bodyPr>
          <a:lstStyle/>
          <a:p>
            <a:pPr algn="ctr">
              <a:lnSpc>
                <a:spcPts val="6839"/>
              </a:lnSpc>
            </a:pPr>
            <a:r>
              <a:rPr lang="en-US" sz="4885">
                <a:solidFill>
                  <a:srgbClr val="435E8A"/>
                </a:solidFill>
                <a:latin typeface="Roboto"/>
                <a:ea typeface="Roboto"/>
                <a:cs typeface="Roboto"/>
                <a:sym typeface="Roboto"/>
              </a:rPr>
              <a:t>Kelompok 5</a:t>
            </a:r>
          </a:p>
        </p:txBody>
      </p:sp>
      <p:sp>
        <p:nvSpPr>
          <p:cNvPr name="Freeform 10" id="10"/>
          <p:cNvSpPr/>
          <p:nvPr/>
        </p:nvSpPr>
        <p:spPr>
          <a:xfrm flipH="false" flipV="false" rot="-3624528">
            <a:off x="15778321" y="3813478"/>
            <a:ext cx="7749311" cy="5721735"/>
          </a:xfrm>
          <a:custGeom>
            <a:avLst/>
            <a:gdLst/>
            <a:ahLst/>
            <a:cxnLst/>
            <a:rect r="r" b="b" t="t" l="l"/>
            <a:pathLst>
              <a:path h="5721735" w="7749311">
                <a:moveTo>
                  <a:pt x="0" y="0"/>
                </a:moveTo>
                <a:lnTo>
                  <a:pt x="7749311" y="0"/>
                </a:lnTo>
                <a:lnTo>
                  <a:pt x="7749311" y="5721734"/>
                </a:lnTo>
                <a:lnTo>
                  <a:pt x="0" y="5721734"/>
                </a:lnTo>
                <a:lnTo>
                  <a:pt x="0" y="0"/>
                </a:lnTo>
                <a:close/>
              </a:path>
            </a:pathLst>
          </a:custGeom>
          <a:blipFill>
            <a:blip r:embed="rId3"/>
            <a:stretch>
              <a:fillRect l="0" t="0" r="0" b="0"/>
            </a:stretch>
          </a:blipFill>
        </p:spPr>
      </p:sp>
      <p:sp>
        <p:nvSpPr>
          <p:cNvPr name="Freeform 11" id="11"/>
          <p:cNvSpPr/>
          <p:nvPr/>
        </p:nvSpPr>
        <p:spPr>
          <a:xfrm flipH="false" flipV="false" rot="1693315">
            <a:off x="14769268" y="2006329"/>
            <a:ext cx="2022021" cy="1316136"/>
          </a:xfrm>
          <a:custGeom>
            <a:avLst/>
            <a:gdLst/>
            <a:ahLst/>
            <a:cxnLst/>
            <a:rect r="r" b="b" t="t" l="l"/>
            <a:pathLst>
              <a:path h="1316136" w="2022021">
                <a:moveTo>
                  <a:pt x="0" y="0"/>
                </a:moveTo>
                <a:lnTo>
                  <a:pt x="2022021" y="0"/>
                </a:lnTo>
                <a:lnTo>
                  <a:pt x="2022021" y="1316135"/>
                </a:lnTo>
                <a:lnTo>
                  <a:pt x="0" y="1316135"/>
                </a:lnTo>
                <a:lnTo>
                  <a:pt x="0" y="0"/>
                </a:lnTo>
                <a:close/>
              </a:path>
            </a:pathLst>
          </a:custGeom>
          <a:blipFill>
            <a:blip r:embed="rId8"/>
            <a:stretch>
              <a:fillRect l="0" t="0" r="0" b="0"/>
            </a:stretch>
          </a:blipFill>
        </p:spPr>
      </p:sp>
      <p:sp>
        <p:nvSpPr>
          <p:cNvPr name="Freeform 12" id="12"/>
          <p:cNvSpPr/>
          <p:nvPr/>
        </p:nvSpPr>
        <p:spPr>
          <a:xfrm flipH="false" flipV="false" rot="1493894">
            <a:off x="64041" y="8664312"/>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9"/>
            <a:stretch>
              <a:fillRect l="0" t="0" r="0" b="0"/>
            </a:stretch>
          </a:blipFill>
        </p:spPr>
      </p:sp>
      <p:sp>
        <p:nvSpPr>
          <p:cNvPr name="Freeform 13" id="13"/>
          <p:cNvSpPr/>
          <p:nvPr/>
        </p:nvSpPr>
        <p:spPr>
          <a:xfrm flipH="false" flipV="false" rot="-1882677">
            <a:off x="12974967" y="8062195"/>
            <a:ext cx="5610623" cy="995886"/>
          </a:xfrm>
          <a:custGeom>
            <a:avLst/>
            <a:gdLst/>
            <a:ahLst/>
            <a:cxnLst/>
            <a:rect r="r" b="b" t="t" l="l"/>
            <a:pathLst>
              <a:path h="995886" w="5610623">
                <a:moveTo>
                  <a:pt x="0" y="0"/>
                </a:moveTo>
                <a:lnTo>
                  <a:pt x="5610623" y="0"/>
                </a:lnTo>
                <a:lnTo>
                  <a:pt x="5610623" y="995885"/>
                </a:lnTo>
                <a:lnTo>
                  <a:pt x="0" y="995885"/>
                </a:lnTo>
                <a:lnTo>
                  <a:pt x="0" y="0"/>
                </a:lnTo>
                <a:close/>
              </a:path>
            </a:pathLst>
          </a:custGeom>
          <a:blipFill>
            <a:blip r:embed="rId10"/>
            <a:stretch>
              <a:fillRect l="0" t="0" r="0" b="0"/>
            </a:stretch>
          </a:blipFill>
        </p:spPr>
      </p:sp>
      <p:sp>
        <p:nvSpPr>
          <p:cNvPr name="TextBox 14" id="14"/>
          <p:cNvSpPr txBox="true"/>
          <p:nvPr/>
        </p:nvSpPr>
        <p:spPr>
          <a:xfrm rot="0">
            <a:off x="2659400" y="1529312"/>
            <a:ext cx="12503331" cy="3835399"/>
          </a:xfrm>
          <a:prstGeom prst="rect">
            <a:avLst/>
          </a:prstGeom>
        </p:spPr>
        <p:txBody>
          <a:bodyPr anchor="t" rtlCol="false" tIns="0" lIns="0" bIns="0" rIns="0">
            <a:spAutoFit/>
          </a:bodyPr>
          <a:lstStyle/>
          <a:p>
            <a:pPr algn="ctr">
              <a:lnSpc>
                <a:spcPts val="15400"/>
              </a:lnSpc>
            </a:pPr>
            <a:r>
              <a:rPr lang="en-US" sz="11000" u="sng">
                <a:solidFill>
                  <a:srgbClr val="FFB3D0"/>
                </a:solidFill>
                <a:latin typeface="Carlsons Script"/>
                <a:ea typeface="Carlsons Script"/>
                <a:cs typeface="Carlsons Script"/>
                <a:sym typeface="Carlsons Script"/>
                <a:hlinkClick r:id="rId11" tooltip="https://www.kaggle.com/datasets/fedesoriano/heart-failure-prediction"/>
              </a:rPr>
              <a:t>Heart  Failure Prediction</a:t>
            </a:r>
          </a:p>
        </p:txBody>
      </p:sp>
      <p:sp>
        <p:nvSpPr>
          <p:cNvPr name="TextBox 15" id="15"/>
          <p:cNvSpPr txBox="true"/>
          <p:nvPr/>
        </p:nvSpPr>
        <p:spPr>
          <a:xfrm rot="0">
            <a:off x="5329951" y="5316135"/>
            <a:ext cx="7162229" cy="1698626"/>
          </a:xfrm>
          <a:prstGeom prst="rect">
            <a:avLst/>
          </a:prstGeom>
        </p:spPr>
        <p:txBody>
          <a:bodyPr anchor="t" rtlCol="false" tIns="0" lIns="0" bIns="0" rIns="0">
            <a:spAutoFit/>
          </a:bodyPr>
          <a:lstStyle/>
          <a:p>
            <a:pPr algn="ctr">
              <a:lnSpc>
                <a:spcPts val="13999"/>
              </a:lnSpc>
            </a:pPr>
            <a:r>
              <a:rPr lang="en-US" sz="9999">
                <a:solidFill>
                  <a:srgbClr val="FFFFFF"/>
                </a:solidFill>
                <a:latin typeface="Noto Serif Display ExtraCondensed"/>
                <a:ea typeface="Noto Serif Display ExtraCondensed"/>
                <a:cs typeface="Noto Serif Display ExtraCondensed"/>
                <a:sym typeface="Noto Serif Display ExtraCondensed"/>
              </a:rPr>
              <a:t>Dataset</a:t>
            </a:r>
          </a:p>
        </p:txBody>
      </p:sp>
      <p:sp>
        <p:nvSpPr>
          <p:cNvPr name="Freeform 16" id="16"/>
          <p:cNvSpPr/>
          <p:nvPr/>
        </p:nvSpPr>
        <p:spPr>
          <a:xfrm flipH="false" flipV="false" rot="1493894">
            <a:off x="11236346" y="158231"/>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9"/>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0">
            <a:off x="2559612" y="3247358"/>
            <a:ext cx="734386" cy="731632"/>
          </a:xfrm>
          <a:custGeom>
            <a:avLst/>
            <a:gdLst/>
            <a:ahLst/>
            <a:cxnLst/>
            <a:rect r="r" b="b" t="t" l="l"/>
            <a:pathLst>
              <a:path h="731632" w="734386">
                <a:moveTo>
                  <a:pt x="0" y="0"/>
                </a:moveTo>
                <a:lnTo>
                  <a:pt x="734386" y="0"/>
                </a:lnTo>
                <a:lnTo>
                  <a:pt x="734386" y="731631"/>
                </a:lnTo>
                <a:lnTo>
                  <a:pt x="0" y="7316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4" id="4"/>
          <p:cNvGrpSpPr/>
          <p:nvPr/>
        </p:nvGrpSpPr>
        <p:grpSpPr>
          <a:xfrm rot="0">
            <a:off x="-817614" y="8164576"/>
            <a:ext cx="2958631" cy="2958631"/>
            <a:chOff x="0" y="0"/>
            <a:chExt cx="812800" cy="812800"/>
          </a:xfrm>
        </p:grpSpPr>
        <p:sp>
          <p:nvSpPr>
            <p:cNvPr name="Freeform 5" id="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12700">
              <a:solidFill>
                <a:srgbClr val="000000"/>
              </a:solidFill>
            </a:ln>
          </p:spPr>
        </p:sp>
      </p:grpSp>
      <p:sp>
        <p:nvSpPr>
          <p:cNvPr name="Freeform 6" id="6"/>
          <p:cNvSpPr/>
          <p:nvPr/>
        </p:nvSpPr>
        <p:spPr>
          <a:xfrm flipH="false" flipV="false" rot="0">
            <a:off x="4199476" y="354335"/>
            <a:ext cx="881555" cy="735698"/>
          </a:xfrm>
          <a:custGeom>
            <a:avLst/>
            <a:gdLst/>
            <a:ahLst/>
            <a:cxnLst/>
            <a:rect r="r" b="b" t="t" l="l"/>
            <a:pathLst>
              <a:path h="735698" w="881555">
                <a:moveTo>
                  <a:pt x="0" y="0"/>
                </a:moveTo>
                <a:lnTo>
                  <a:pt x="881556" y="0"/>
                </a:lnTo>
                <a:lnTo>
                  <a:pt x="881556" y="735698"/>
                </a:lnTo>
                <a:lnTo>
                  <a:pt x="0" y="735698"/>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0">
            <a:off x="14355862" y="1090033"/>
            <a:ext cx="690039" cy="674984"/>
          </a:xfrm>
          <a:custGeom>
            <a:avLst/>
            <a:gdLst/>
            <a:ahLst/>
            <a:cxnLst/>
            <a:rect r="r" b="b" t="t" l="l"/>
            <a:pathLst>
              <a:path h="674984" w="690039">
                <a:moveTo>
                  <a:pt x="0" y="0"/>
                </a:moveTo>
                <a:lnTo>
                  <a:pt x="690039" y="0"/>
                </a:lnTo>
                <a:lnTo>
                  <a:pt x="690039" y="674984"/>
                </a:lnTo>
                <a:lnTo>
                  <a:pt x="0" y="67498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3011798">
            <a:off x="-1903192" y="518789"/>
            <a:ext cx="8088418" cy="1142489"/>
          </a:xfrm>
          <a:custGeom>
            <a:avLst/>
            <a:gdLst/>
            <a:ahLst/>
            <a:cxnLst/>
            <a:rect r="r" b="b" t="t" l="l"/>
            <a:pathLst>
              <a:path h="1142489" w="8088418">
                <a:moveTo>
                  <a:pt x="0" y="0"/>
                </a:moveTo>
                <a:lnTo>
                  <a:pt x="8088417" y="0"/>
                </a:lnTo>
                <a:lnTo>
                  <a:pt x="8088417" y="1142489"/>
                </a:lnTo>
                <a:lnTo>
                  <a:pt x="0" y="1142489"/>
                </a:lnTo>
                <a:lnTo>
                  <a:pt x="0" y="0"/>
                </a:lnTo>
                <a:close/>
              </a:path>
            </a:pathLst>
          </a:custGeom>
          <a:blipFill>
            <a:blip r:embed="rId9"/>
            <a:stretch>
              <a:fillRect l="0" t="0" r="0" b="0"/>
            </a:stretch>
          </a:blipFill>
        </p:spPr>
      </p:sp>
      <p:sp>
        <p:nvSpPr>
          <p:cNvPr name="Freeform 9" id="9"/>
          <p:cNvSpPr/>
          <p:nvPr/>
        </p:nvSpPr>
        <p:spPr>
          <a:xfrm flipH="false" flipV="false" rot="-845015">
            <a:off x="10906739" y="9715756"/>
            <a:ext cx="8088418" cy="1142489"/>
          </a:xfrm>
          <a:custGeom>
            <a:avLst/>
            <a:gdLst/>
            <a:ahLst/>
            <a:cxnLst/>
            <a:rect r="r" b="b" t="t" l="l"/>
            <a:pathLst>
              <a:path h="1142489" w="8088418">
                <a:moveTo>
                  <a:pt x="0" y="0"/>
                </a:moveTo>
                <a:lnTo>
                  <a:pt x="8088417" y="0"/>
                </a:lnTo>
                <a:lnTo>
                  <a:pt x="8088417" y="1142488"/>
                </a:lnTo>
                <a:lnTo>
                  <a:pt x="0" y="1142488"/>
                </a:lnTo>
                <a:lnTo>
                  <a:pt x="0" y="0"/>
                </a:lnTo>
                <a:close/>
              </a:path>
            </a:pathLst>
          </a:custGeom>
          <a:blipFill>
            <a:blip r:embed="rId9"/>
            <a:stretch>
              <a:fillRect l="0" t="0" r="0" b="0"/>
            </a:stretch>
          </a:blipFill>
        </p:spPr>
      </p:sp>
      <p:sp>
        <p:nvSpPr>
          <p:cNvPr name="Freeform 10" id="10"/>
          <p:cNvSpPr/>
          <p:nvPr/>
        </p:nvSpPr>
        <p:spPr>
          <a:xfrm flipH="false" flipV="false" rot="-7912512">
            <a:off x="16544038" y="81690"/>
            <a:ext cx="7749311" cy="5721735"/>
          </a:xfrm>
          <a:custGeom>
            <a:avLst/>
            <a:gdLst/>
            <a:ahLst/>
            <a:cxnLst/>
            <a:rect r="r" b="b" t="t" l="l"/>
            <a:pathLst>
              <a:path h="5721735" w="7749311">
                <a:moveTo>
                  <a:pt x="0" y="0"/>
                </a:moveTo>
                <a:lnTo>
                  <a:pt x="7749311" y="0"/>
                </a:lnTo>
                <a:lnTo>
                  <a:pt x="7749311" y="5721735"/>
                </a:lnTo>
                <a:lnTo>
                  <a:pt x="0" y="5721735"/>
                </a:lnTo>
                <a:lnTo>
                  <a:pt x="0" y="0"/>
                </a:lnTo>
                <a:close/>
              </a:path>
            </a:pathLst>
          </a:custGeom>
          <a:blipFill>
            <a:blip r:embed="rId10"/>
            <a:stretch>
              <a:fillRect l="0" t="0" r="0" b="0"/>
            </a:stretch>
          </a:blipFill>
        </p:spPr>
      </p:sp>
      <p:sp>
        <p:nvSpPr>
          <p:cNvPr name="TextBox 11" id="11"/>
          <p:cNvSpPr txBox="true"/>
          <p:nvPr/>
        </p:nvSpPr>
        <p:spPr>
          <a:xfrm rot="0">
            <a:off x="3293998" y="1197838"/>
            <a:ext cx="11061864" cy="1744720"/>
          </a:xfrm>
          <a:prstGeom prst="rect">
            <a:avLst/>
          </a:prstGeom>
        </p:spPr>
        <p:txBody>
          <a:bodyPr anchor="t" rtlCol="false" tIns="0" lIns="0" bIns="0" rIns="0">
            <a:spAutoFit/>
          </a:bodyPr>
          <a:lstStyle/>
          <a:p>
            <a:pPr algn="ctr">
              <a:lnSpc>
                <a:spcPts val="14239"/>
              </a:lnSpc>
            </a:pPr>
            <a:r>
              <a:rPr lang="en-US" sz="10171">
                <a:solidFill>
                  <a:srgbClr val="D8EEFF"/>
                </a:solidFill>
                <a:latin typeface="Carlsons Script"/>
                <a:ea typeface="Carlsons Script"/>
                <a:cs typeface="Carlsons Script"/>
                <a:sym typeface="Carlsons Script"/>
              </a:rPr>
              <a:t>Anggota Kelompok</a:t>
            </a:r>
          </a:p>
        </p:txBody>
      </p:sp>
      <p:sp>
        <p:nvSpPr>
          <p:cNvPr name="TextBox 12" id="12"/>
          <p:cNvSpPr txBox="true"/>
          <p:nvPr/>
        </p:nvSpPr>
        <p:spPr>
          <a:xfrm rot="0">
            <a:off x="4143840" y="3604431"/>
            <a:ext cx="10000320" cy="4396789"/>
          </a:xfrm>
          <a:prstGeom prst="rect">
            <a:avLst/>
          </a:prstGeom>
        </p:spPr>
        <p:txBody>
          <a:bodyPr anchor="t" rtlCol="false" tIns="0" lIns="0" bIns="0" rIns="0">
            <a:spAutoFit/>
          </a:bodyPr>
          <a:lstStyle/>
          <a:p>
            <a:pPr algn="l">
              <a:lnSpc>
                <a:spcPts val="5807"/>
              </a:lnSpc>
            </a:pPr>
            <a:r>
              <a:rPr lang="en-US" sz="4148" i="true">
                <a:solidFill>
                  <a:srgbClr val="FFFFFF"/>
                </a:solidFill>
                <a:latin typeface="Roboto Italics"/>
                <a:ea typeface="Roboto Italics"/>
                <a:cs typeface="Roboto Italics"/>
                <a:sym typeface="Roboto Italics"/>
              </a:rPr>
              <a:t>Mila Lestari                       (2208107010002)</a:t>
            </a:r>
          </a:p>
          <a:p>
            <a:pPr algn="l">
              <a:lnSpc>
                <a:spcPts val="5807"/>
              </a:lnSpc>
            </a:pPr>
            <a:r>
              <a:rPr lang="en-US" sz="4148" i="true">
                <a:solidFill>
                  <a:srgbClr val="FFFFFF"/>
                </a:solidFill>
                <a:latin typeface="Roboto Italics"/>
                <a:ea typeface="Roboto Italics"/>
                <a:cs typeface="Roboto Italics"/>
                <a:sym typeface="Roboto Italics"/>
              </a:rPr>
              <a:t>Zahra Zafira                      (2208107010040)</a:t>
            </a:r>
          </a:p>
          <a:p>
            <a:pPr algn="l">
              <a:lnSpc>
                <a:spcPts val="5807"/>
              </a:lnSpc>
            </a:pPr>
            <a:r>
              <a:rPr lang="en-US" sz="4148" i="true">
                <a:solidFill>
                  <a:srgbClr val="FFFFFF"/>
                </a:solidFill>
                <a:latin typeface="Roboto Italics"/>
                <a:ea typeface="Roboto Italics"/>
                <a:cs typeface="Roboto Italics"/>
                <a:sym typeface="Roboto Italics"/>
              </a:rPr>
              <a:t>Pryta Rosela                     (2208107010046)</a:t>
            </a:r>
          </a:p>
          <a:p>
            <a:pPr algn="l">
              <a:lnSpc>
                <a:spcPts val="5807"/>
              </a:lnSpc>
            </a:pPr>
            <a:r>
              <a:rPr lang="en-US" sz="4148" i="true">
                <a:solidFill>
                  <a:srgbClr val="FFFFFF"/>
                </a:solidFill>
                <a:latin typeface="Roboto Italics"/>
                <a:ea typeface="Roboto Italics"/>
                <a:cs typeface="Roboto Italics"/>
                <a:sym typeface="Roboto Italics"/>
              </a:rPr>
              <a:t>Cut Sula Fhatia Rahma  (2208107010048)</a:t>
            </a:r>
          </a:p>
          <a:p>
            <a:pPr algn="l">
              <a:lnSpc>
                <a:spcPts val="5807"/>
              </a:lnSpc>
            </a:pPr>
            <a:r>
              <a:rPr lang="en-US" sz="4148" i="true">
                <a:solidFill>
                  <a:srgbClr val="FFFFFF"/>
                </a:solidFill>
                <a:latin typeface="Roboto Italics"/>
                <a:ea typeface="Roboto Italics"/>
                <a:cs typeface="Roboto Italics"/>
                <a:sym typeface="Roboto Italics"/>
              </a:rPr>
              <a:t>Widya Nurul Sukma      (2208107010054) </a:t>
            </a:r>
          </a:p>
          <a:p>
            <a:pPr algn="l">
              <a:lnSpc>
                <a:spcPts val="5807"/>
              </a:lnSpc>
            </a:pPr>
          </a:p>
        </p:txBody>
      </p:sp>
      <p:sp>
        <p:nvSpPr>
          <p:cNvPr name="Freeform 13" id="13"/>
          <p:cNvSpPr/>
          <p:nvPr/>
        </p:nvSpPr>
        <p:spPr>
          <a:xfrm flipH="false" flipV="false" rot="0">
            <a:off x="2559612" y="4283789"/>
            <a:ext cx="734386" cy="731632"/>
          </a:xfrm>
          <a:custGeom>
            <a:avLst/>
            <a:gdLst/>
            <a:ahLst/>
            <a:cxnLst/>
            <a:rect r="r" b="b" t="t" l="l"/>
            <a:pathLst>
              <a:path h="731632" w="734386">
                <a:moveTo>
                  <a:pt x="0" y="0"/>
                </a:moveTo>
                <a:lnTo>
                  <a:pt x="734386" y="0"/>
                </a:lnTo>
                <a:lnTo>
                  <a:pt x="734386" y="731632"/>
                </a:lnTo>
                <a:lnTo>
                  <a:pt x="0" y="7316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4" id="14"/>
          <p:cNvSpPr/>
          <p:nvPr/>
        </p:nvSpPr>
        <p:spPr>
          <a:xfrm flipH="false" flipV="false" rot="0">
            <a:off x="2559612" y="5320221"/>
            <a:ext cx="734386" cy="731632"/>
          </a:xfrm>
          <a:custGeom>
            <a:avLst/>
            <a:gdLst/>
            <a:ahLst/>
            <a:cxnLst/>
            <a:rect r="r" b="b" t="t" l="l"/>
            <a:pathLst>
              <a:path h="731632" w="734386">
                <a:moveTo>
                  <a:pt x="0" y="0"/>
                </a:moveTo>
                <a:lnTo>
                  <a:pt x="734386" y="0"/>
                </a:lnTo>
                <a:lnTo>
                  <a:pt x="734386" y="731632"/>
                </a:lnTo>
                <a:lnTo>
                  <a:pt x="0" y="7316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5" id="15"/>
          <p:cNvSpPr/>
          <p:nvPr/>
        </p:nvSpPr>
        <p:spPr>
          <a:xfrm flipH="false" flipV="false" rot="0">
            <a:off x="2559612" y="6356653"/>
            <a:ext cx="734386" cy="731632"/>
          </a:xfrm>
          <a:custGeom>
            <a:avLst/>
            <a:gdLst/>
            <a:ahLst/>
            <a:cxnLst/>
            <a:rect r="r" b="b" t="t" l="l"/>
            <a:pathLst>
              <a:path h="731632" w="734386">
                <a:moveTo>
                  <a:pt x="0" y="0"/>
                </a:moveTo>
                <a:lnTo>
                  <a:pt x="734386" y="0"/>
                </a:lnTo>
                <a:lnTo>
                  <a:pt x="734386" y="731632"/>
                </a:lnTo>
                <a:lnTo>
                  <a:pt x="0" y="7316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6" id="16"/>
          <p:cNvSpPr/>
          <p:nvPr/>
        </p:nvSpPr>
        <p:spPr>
          <a:xfrm flipH="false" flipV="false" rot="0">
            <a:off x="2559612" y="7432944"/>
            <a:ext cx="734386" cy="731632"/>
          </a:xfrm>
          <a:custGeom>
            <a:avLst/>
            <a:gdLst/>
            <a:ahLst/>
            <a:cxnLst/>
            <a:rect r="r" b="b" t="t" l="l"/>
            <a:pathLst>
              <a:path h="731632" w="734386">
                <a:moveTo>
                  <a:pt x="0" y="0"/>
                </a:moveTo>
                <a:lnTo>
                  <a:pt x="734386" y="0"/>
                </a:lnTo>
                <a:lnTo>
                  <a:pt x="734386" y="731632"/>
                </a:lnTo>
                <a:lnTo>
                  <a:pt x="0" y="73163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5538288">
            <a:off x="-8041760" y="791869"/>
            <a:ext cx="11787384" cy="8703262"/>
          </a:xfrm>
          <a:custGeom>
            <a:avLst/>
            <a:gdLst/>
            <a:ahLst/>
            <a:cxnLst/>
            <a:rect r="r" b="b" t="t" l="l"/>
            <a:pathLst>
              <a:path h="8703262" w="11787384">
                <a:moveTo>
                  <a:pt x="0" y="0"/>
                </a:moveTo>
                <a:lnTo>
                  <a:pt x="11787384" y="0"/>
                </a:lnTo>
                <a:lnTo>
                  <a:pt x="11787384" y="8703262"/>
                </a:lnTo>
                <a:lnTo>
                  <a:pt x="0" y="8703262"/>
                </a:lnTo>
                <a:lnTo>
                  <a:pt x="0" y="0"/>
                </a:lnTo>
                <a:close/>
              </a:path>
            </a:pathLst>
          </a:custGeom>
          <a:blipFill>
            <a:blip r:embed="rId3"/>
            <a:stretch>
              <a:fillRect l="0" t="0" r="0" b="0"/>
            </a:stretch>
          </a:blipFill>
        </p:spPr>
      </p:sp>
      <p:sp>
        <p:nvSpPr>
          <p:cNvPr name="TextBox 4" id="4"/>
          <p:cNvSpPr txBox="true"/>
          <p:nvPr/>
        </p:nvSpPr>
        <p:spPr>
          <a:xfrm rot="0">
            <a:off x="4304007" y="3368376"/>
            <a:ext cx="12140904" cy="4904350"/>
          </a:xfrm>
          <a:prstGeom prst="rect">
            <a:avLst/>
          </a:prstGeom>
        </p:spPr>
        <p:txBody>
          <a:bodyPr anchor="t" rtlCol="false" tIns="0" lIns="0" bIns="0" rIns="0">
            <a:spAutoFit/>
          </a:bodyPr>
          <a:lstStyle/>
          <a:p>
            <a:pPr algn="l">
              <a:lnSpc>
                <a:spcPts val="5598"/>
              </a:lnSpc>
            </a:pPr>
            <a:r>
              <a:rPr lang="en-US" sz="3999" i="true">
                <a:solidFill>
                  <a:srgbClr val="FFFFFF"/>
                </a:solidFill>
                <a:latin typeface="Roboto Italics"/>
                <a:ea typeface="Roboto Italics"/>
                <a:cs typeface="Roboto Italics"/>
                <a:sym typeface="Roboto Italics"/>
              </a:rPr>
              <a:t>Dataset </a:t>
            </a:r>
            <a:r>
              <a:rPr lang="en-US" sz="3999" i="true" b="true">
                <a:solidFill>
                  <a:srgbClr val="FFFFFF"/>
                </a:solidFill>
                <a:latin typeface="Roboto Bold Italics"/>
                <a:ea typeface="Roboto Bold Italics"/>
                <a:cs typeface="Roboto Bold Italics"/>
                <a:sym typeface="Roboto Bold Italics"/>
              </a:rPr>
              <a:t>Heart Failure Prediction</a:t>
            </a:r>
            <a:r>
              <a:rPr lang="en-US" sz="3999" i="true">
                <a:solidFill>
                  <a:srgbClr val="FFFFFF"/>
                </a:solidFill>
                <a:latin typeface="Roboto Italics"/>
                <a:ea typeface="Roboto Italics"/>
                <a:cs typeface="Roboto Italics"/>
                <a:sym typeface="Roboto Italics"/>
              </a:rPr>
              <a:t> ini, berfokus pada prediksi penyakit jantung  dengan tujuan untuk membantu dalam mendeteksi risiko penyakit jantung pada individu. Penyakit jantung adalah penyebab kematian nomor satu di seluruh dunia, dengan begitu  deteksi dini sangat penting untuk mencegah komplikasi lebih lanjut. </a:t>
            </a:r>
          </a:p>
        </p:txBody>
      </p:sp>
      <p:sp>
        <p:nvSpPr>
          <p:cNvPr name="Freeform 5" id="5"/>
          <p:cNvSpPr/>
          <p:nvPr/>
        </p:nvSpPr>
        <p:spPr>
          <a:xfrm flipH="false" flipV="false" rot="-5400000">
            <a:off x="13058392" y="-1891316"/>
            <a:ext cx="7707153" cy="1181763"/>
          </a:xfrm>
          <a:custGeom>
            <a:avLst/>
            <a:gdLst/>
            <a:ahLst/>
            <a:cxnLst/>
            <a:rect r="r" b="b" t="t" l="l"/>
            <a:pathLst>
              <a:path h="1181763" w="7707153">
                <a:moveTo>
                  <a:pt x="0" y="0"/>
                </a:moveTo>
                <a:lnTo>
                  <a:pt x="7707152" y="0"/>
                </a:lnTo>
                <a:lnTo>
                  <a:pt x="7707152" y="1181763"/>
                </a:lnTo>
                <a:lnTo>
                  <a:pt x="0" y="11817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2883059">
            <a:off x="13639600" y="8626816"/>
            <a:ext cx="5610623" cy="995886"/>
          </a:xfrm>
          <a:custGeom>
            <a:avLst/>
            <a:gdLst/>
            <a:ahLst/>
            <a:cxnLst/>
            <a:rect r="r" b="b" t="t" l="l"/>
            <a:pathLst>
              <a:path h="995886" w="5610623">
                <a:moveTo>
                  <a:pt x="0" y="0"/>
                </a:moveTo>
                <a:lnTo>
                  <a:pt x="5610623" y="0"/>
                </a:lnTo>
                <a:lnTo>
                  <a:pt x="5610623" y="995885"/>
                </a:lnTo>
                <a:lnTo>
                  <a:pt x="0" y="995885"/>
                </a:lnTo>
                <a:lnTo>
                  <a:pt x="0" y="0"/>
                </a:lnTo>
                <a:close/>
              </a:path>
            </a:pathLst>
          </a:custGeom>
          <a:blipFill>
            <a:blip r:embed="rId6"/>
            <a:stretch>
              <a:fillRect l="0" t="0" r="0" b="0"/>
            </a:stretch>
          </a:blipFill>
        </p:spPr>
      </p:sp>
      <p:sp>
        <p:nvSpPr>
          <p:cNvPr name="TextBox 7" id="7"/>
          <p:cNvSpPr txBox="true"/>
          <p:nvPr/>
        </p:nvSpPr>
        <p:spPr>
          <a:xfrm rot="0">
            <a:off x="4615030" y="828675"/>
            <a:ext cx="10787781" cy="1741898"/>
          </a:xfrm>
          <a:prstGeom prst="rect">
            <a:avLst/>
          </a:prstGeom>
        </p:spPr>
        <p:txBody>
          <a:bodyPr anchor="t" rtlCol="false" tIns="0" lIns="0" bIns="0" rIns="0">
            <a:spAutoFit/>
          </a:bodyPr>
          <a:lstStyle/>
          <a:p>
            <a:pPr algn="ctr">
              <a:lnSpc>
                <a:spcPts val="14239"/>
              </a:lnSpc>
            </a:pPr>
            <a:r>
              <a:rPr lang="en-US" sz="10171">
                <a:solidFill>
                  <a:srgbClr val="FFB3D0"/>
                </a:solidFill>
                <a:latin typeface="Carlsons Script"/>
                <a:ea typeface="Carlsons Script"/>
                <a:cs typeface="Carlsons Script"/>
                <a:sym typeface="Carlsons Script"/>
              </a:rPr>
              <a:t>Tentang  Dataset</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TextBox 3" id="3"/>
          <p:cNvSpPr txBox="true"/>
          <p:nvPr/>
        </p:nvSpPr>
        <p:spPr>
          <a:xfrm rot="0">
            <a:off x="271262" y="539157"/>
            <a:ext cx="11334144" cy="1741898"/>
          </a:xfrm>
          <a:prstGeom prst="rect">
            <a:avLst/>
          </a:prstGeom>
        </p:spPr>
        <p:txBody>
          <a:bodyPr anchor="t" rtlCol="false" tIns="0" lIns="0" bIns="0" rIns="0">
            <a:spAutoFit/>
          </a:bodyPr>
          <a:lstStyle/>
          <a:p>
            <a:pPr algn="ctr">
              <a:lnSpc>
                <a:spcPts val="14239"/>
              </a:lnSpc>
            </a:pPr>
            <a:r>
              <a:rPr lang="en-US" sz="10171">
                <a:solidFill>
                  <a:srgbClr val="FFB3D0"/>
                </a:solidFill>
                <a:latin typeface="Carlsons Script"/>
                <a:ea typeface="Carlsons Script"/>
                <a:cs typeface="Carlsons Script"/>
                <a:sym typeface="Carlsons Script"/>
              </a:rPr>
              <a:t>Fitur  Dataset</a:t>
            </a:r>
          </a:p>
        </p:txBody>
      </p:sp>
      <p:sp>
        <p:nvSpPr>
          <p:cNvPr name="Freeform 4" id="4"/>
          <p:cNvSpPr/>
          <p:nvPr/>
        </p:nvSpPr>
        <p:spPr>
          <a:xfrm flipH="false" flipV="false" rot="-894640">
            <a:off x="11959729" y="2540813"/>
            <a:ext cx="7366831" cy="8731487"/>
          </a:xfrm>
          <a:custGeom>
            <a:avLst/>
            <a:gdLst/>
            <a:ahLst/>
            <a:cxnLst/>
            <a:rect r="r" b="b" t="t" l="l"/>
            <a:pathLst>
              <a:path h="8731487" w="7366831">
                <a:moveTo>
                  <a:pt x="0" y="0"/>
                </a:moveTo>
                <a:lnTo>
                  <a:pt x="7366831" y="0"/>
                </a:lnTo>
                <a:lnTo>
                  <a:pt x="7366831" y="8731487"/>
                </a:lnTo>
                <a:lnTo>
                  <a:pt x="0" y="8731487"/>
                </a:lnTo>
                <a:lnTo>
                  <a:pt x="0" y="0"/>
                </a:lnTo>
                <a:close/>
              </a:path>
            </a:pathLst>
          </a:custGeom>
          <a:blipFill>
            <a:blip r:embed="rId3"/>
            <a:stretch>
              <a:fillRect l="0" t="0" r="0" b="0"/>
            </a:stretch>
          </a:blipFill>
        </p:spPr>
      </p:sp>
      <p:sp>
        <p:nvSpPr>
          <p:cNvPr name="Freeform 5" id="5"/>
          <p:cNvSpPr/>
          <p:nvPr/>
        </p:nvSpPr>
        <p:spPr>
          <a:xfrm flipH="false" flipV="false" rot="-880851">
            <a:off x="13178218" y="1111346"/>
            <a:ext cx="2821868" cy="1836756"/>
          </a:xfrm>
          <a:custGeom>
            <a:avLst/>
            <a:gdLst/>
            <a:ahLst/>
            <a:cxnLst/>
            <a:rect r="r" b="b" t="t" l="l"/>
            <a:pathLst>
              <a:path h="1836756" w="2821868">
                <a:moveTo>
                  <a:pt x="0" y="0"/>
                </a:moveTo>
                <a:lnTo>
                  <a:pt x="2821868" y="0"/>
                </a:lnTo>
                <a:lnTo>
                  <a:pt x="2821868" y="1836756"/>
                </a:lnTo>
                <a:lnTo>
                  <a:pt x="0" y="1836756"/>
                </a:lnTo>
                <a:lnTo>
                  <a:pt x="0" y="0"/>
                </a:lnTo>
                <a:close/>
              </a:path>
            </a:pathLst>
          </a:custGeom>
          <a:blipFill>
            <a:blip r:embed="rId4"/>
            <a:stretch>
              <a:fillRect l="0" t="0" r="0" b="0"/>
            </a:stretch>
          </a:blipFill>
        </p:spPr>
      </p:sp>
      <p:sp>
        <p:nvSpPr>
          <p:cNvPr name="Freeform 6" id="6"/>
          <p:cNvSpPr/>
          <p:nvPr/>
        </p:nvSpPr>
        <p:spPr>
          <a:xfrm flipH="false" flipV="false" rot="0">
            <a:off x="1771" y="7255453"/>
            <a:ext cx="741640" cy="741640"/>
          </a:xfrm>
          <a:custGeom>
            <a:avLst/>
            <a:gdLst/>
            <a:ahLst/>
            <a:cxnLst/>
            <a:rect r="r" b="b" t="t" l="l"/>
            <a:pathLst>
              <a:path h="741640" w="741640">
                <a:moveTo>
                  <a:pt x="0" y="0"/>
                </a:moveTo>
                <a:lnTo>
                  <a:pt x="741641" y="0"/>
                </a:lnTo>
                <a:lnTo>
                  <a:pt x="741641" y="741641"/>
                </a:lnTo>
                <a:lnTo>
                  <a:pt x="0" y="74164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7" id="7"/>
          <p:cNvGrpSpPr>
            <a:grpSpLocks noChangeAspect="true"/>
          </p:cNvGrpSpPr>
          <p:nvPr/>
        </p:nvGrpSpPr>
        <p:grpSpPr>
          <a:xfrm rot="-929019">
            <a:off x="13451141" y="3117220"/>
            <a:ext cx="4836313" cy="7178623"/>
            <a:chOff x="0" y="0"/>
            <a:chExt cx="3304032" cy="4904232"/>
          </a:xfrm>
        </p:grpSpPr>
        <p:sp>
          <p:nvSpPr>
            <p:cNvPr name="Freeform 8" id="8"/>
            <p:cNvSpPr/>
            <p:nvPr/>
          </p:nvSpPr>
          <p:spPr>
            <a:xfrm flipH="false" flipV="false" rot="0">
              <a:off x="0" y="0"/>
              <a:ext cx="3304032" cy="4904232"/>
            </a:xfrm>
            <a:custGeom>
              <a:avLst/>
              <a:gdLst/>
              <a:ahLst/>
              <a:cxnLst/>
              <a:rect r="r" b="b" t="t" l="l"/>
              <a:pathLst>
                <a:path h="4904232" w="3304032">
                  <a:moveTo>
                    <a:pt x="3304032" y="4904232"/>
                  </a:moveTo>
                  <a:lnTo>
                    <a:pt x="0" y="4904232"/>
                  </a:lnTo>
                  <a:lnTo>
                    <a:pt x="0" y="0"/>
                  </a:lnTo>
                  <a:lnTo>
                    <a:pt x="3304032" y="0"/>
                  </a:lnTo>
                  <a:lnTo>
                    <a:pt x="3304032" y="4904232"/>
                  </a:lnTo>
                  <a:close/>
                </a:path>
              </a:pathLst>
            </a:custGeom>
            <a:blipFill>
              <a:blip r:embed="rId7"/>
              <a:stretch>
                <a:fillRect l="0" t="-654" r="0" b="-654"/>
              </a:stretch>
            </a:blipFill>
          </p:spPr>
        </p:sp>
        <p:sp>
          <p:nvSpPr>
            <p:cNvPr name="Freeform 9" id="9"/>
            <p:cNvSpPr/>
            <p:nvPr/>
          </p:nvSpPr>
          <p:spPr>
            <a:xfrm flipH="false" flipV="false" rot="0">
              <a:off x="77287" y="70236"/>
              <a:ext cx="3150561" cy="3968517"/>
            </a:xfrm>
            <a:custGeom>
              <a:avLst/>
              <a:gdLst/>
              <a:ahLst/>
              <a:cxnLst/>
              <a:rect r="r" b="b" t="t" l="l"/>
              <a:pathLst>
                <a:path h="3968517" w="3150561">
                  <a:moveTo>
                    <a:pt x="3150562" y="0"/>
                  </a:moveTo>
                  <a:lnTo>
                    <a:pt x="3127307" y="3968517"/>
                  </a:lnTo>
                  <a:lnTo>
                    <a:pt x="0" y="3951752"/>
                  </a:lnTo>
                  <a:lnTo>
                    <a:pt x="34018" y="0"/>
                  </a:lnTo>
                  <a:lnTo>
                    <a:pt x="3150562" y="0"/>
                  </a:lnTo>
                  <a:close/>
                </a:path>
              </a:pathLst>
            </a:custGeom>
            <a:blipFill>
              <a:blip r:embed="rId8"/>
              <a:stretch>
                <a:fillRect l="-44442" t="0" r="-44442" b="0"/>
              </a:stretch>
            </a:blipFill>
          </p:spPr>
        </p:sp>
      </p:grpSp>
      <p:sp>
        <p:nvSpPr>
          <p:cNvPr name="TextBox 10" id="10"/>
          <p:cNvSpPr txBox="true"/>
          <p:nvPr/>
        </p:nvSpPr>
        <p:spPr>
          <a:xfrm rot="0">
            <a:off x="1028700" y="3125454"/>
            <a:ext cx="9931694" cy="6132846"/>
          </a:xfrm>
          <a:prstGeom prst="rect">
            <a:avLst/>
          </a:prstGeom>
        </p:spPr>
        <p:txBody>
          <a:bodyPr anchor="t" rtlCol="false" tIns="0" lIns="0" bIns="0" rIns="0">
            <a:spAutoFit/>
          </a:bodyPr>
          <a:lstStyle/>
          <a:p>
            <a:pPr algn="l" marL="680908" indent="-340454" lvl="1">
              <a:lnSpc>
                <a:spcPts val="4415"/>
              </a:lnSpc>
              <a:buAutoNum type="arabicPeriod" startAt="1"/>
            </a:pPr>
            <a:r>
              <a:rPr lang="en-US" sz="3153" i="true">
                <a:solidFill>
                  <a:srgbClr val="FFFFFF"/>
                </a:solidFill>
                <a:latin typeface="Roboto Italics"/>
                <a:ea typeface="Roboto Italics"/>
                <a:cs typeface="Roboto Italics"/>
                <a:sym typeface="Roboto Italics"/>
              </a:rPr>
              <a:t>Informasi demografis: Age (Usia), Sex (Jenis Kelamin)</a:t>
            </a:r>
          </a:p>
          <a:p>
            <a:pPr algn="l" marL="680908" indent="-340454" lvl="1">
              <a:lnSpc>
                <a:spcPts val="4415"/>
              </a:lnSpc>
              <a:buAutoNum type="arabicPeriod" startAt="1"/>
            </a:pPr>
            <a:r>
              <a:rPr lang="en-US" sz="3153" i="true">
                <a:solidFill>
                  <a:srgbClr val="FFFFFF"/>
                </a:solidFill>
                <a:latin typeface="Roboto Italics"/>
                <a:ea typeface="Roboto Italics"/>
                <a:cs typeface="Roboto Italics"/>
                <a:sym typeface="Roboto Italics"/>
              </a:rPr>
              <a:t>Pengukuran medis: RestingBP (Tekanan Darah Istirahat), Cholesterol (Kolesterol), FastingBS (Gula Darah Puasa), MaxHR (Detak Jantung Maksimum), Oldpeak (Depresi ST)</a:t>
            </a:r>
          </a:p>
          <a:p>
            <a:pPr algn="l" marL="680908" indent="-340454" lvl="1">
              <a:lnSpc>
                <a:spcPts val="4415"/>
              </a:lnSpc>
              <a:buAutoNum type="arabicPeriod" startAt="1"/>
            </a:pPr>
            <a:r>
              <a:rPr lang="en-US" sz="3153" i="true">
                <a:solidFill>
                  <a:srgbClr val="FFFFFF"/>
                </a:solidFill>
                <a:latin typeface="Roboto Italics"/>
                <a:ea typeface="Roboto Italics"/>
                <a:cs typeface="Roboto Italics"/>
                <a:sym typeface="Roboto Italics"/>
              </a:rPr>
              <a:t>Observasi klinis: ChestPainType (Jenis Nyeri Dada), RestingECG (EKG Istirahat), ExerciseAngina (Angina Akibat Olahraga), ST_Slope (Kemiringan Segmen ST)</a:t>
            </a:r>
          </a:p>
          <a:p>
            <a:pPr algn="l" marL="680908" indent="-340454" lvl="1">
              <a:lnSpc>
                <a:spcPts val="4415"/>
              </a:lnSpc>
              <a:buAutoNum type="arabicPeriod" startAt="1"/>
            </a:pPr>
            <a:r>
              <a:rPr lang="en-US" sz="3153" i="true">
                <a:solidFill>
                  <a:srgbClr val="FFFFFF"/>
                </a:solidFill>
                <a:latin typeface="Roboto Italics"/>
                <a:ea typeface="Roboto Italics"/>
                <a:cs typeface="Roboto Italics"/>
                <a:sym typeface="Roboto Italics"/>
              </a:rPr>
              <a:t>Variabel target: HeartDisease (0 = Tidak, 1 = Ya)</a:t>
            </a:r>
          </a:p>
          <a:p>
            <a:pPr algn="l">
              <a:lnSpc>
                <a:spcPts val="4415"/>
              </a:lnSpc>
            </a:pPr>
          </a:p>
        </p:txBody>
      </p:sp>
      <p:sp>
        <p:nvSpPr>
          <p:cNvPr name="Freeform 11" id="11"/>
          <p:cNvSpPr/>
          <p:nvPr/>
        </p:nvSpPr>
        <p:spPr>
          <a:xfrm flipH="false" flipV="false" rot="-1021965">
            <a:off x="10698322" y="4601245"/>
            <a:ext cx="1814168" cy="1061288"/>
          </a:xfrm>
          <a:custGeom>
            <a:avLst/>
            <a:gdLst/>
            <a:ahLst/>
            <a:cxnLst/>
            <a:rect r="r" b="b" t="t" l="l"/>
            <a:pathLst>
              <a:path h="1061288" w="1814168">
                <a:moveTo>
                  <a:pt x="0" y="0"/>
                </a:moveTo>
                <a:lnTo>
                  <a:pt x="1814168" y="0"/>
                </a:lnTo>
                <a:lnTo>
                  <a:pt x="1814168" y="1061288"/>
                </a:lnTo>
                <a:lnTo>
                  <a:pt x="0" y="1061288"/>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1493894">
            <a:off x="-490687" y="10239890"/>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11"/>
            <a:stretch>
              <a:fillRect l="0" t="0" r="0" b="0"/>
            </a:stretch>
          </a:blipFill>
        </p:spPr>
      </p:sp>
      <p:sp>
        <p:nvSpPr>
          <p:cNvPr name="Freeform 13" id="13"/>
          <p:cNvSpPr/>
          <p:nvPr/>
        </p:nvSpPr>
        <p:spPr>
          <a:xfrm flipH="false" flipV="false" rot="0">
            <a:off x="11739178" y="1028700"/>
            <a:ext cx="1252355" cy="1252355"/>
          </a:xfrm>
          <a:custGeom>
            <a:avLst/>
            <a:gdLst/>
            <a:ahLst/>
            <a:cxnLst/>
            <a:rect r="r" b="b" t="t" l="l"/>
            <a:pathLst>
              <a:path h="1252355" w="1252355">
                <a:moveTo>
                  <a:pt x="0" y="0"/>
                </a:moveTo>
                <a:lnTo>
                  <a:pt x="1252355" y="0"/>
                </a:lnTo>
                <a:lnTo>
                  <a:pt x="1252355" y="1252355"/>
                </a:lnTo>
                <a:lnTo>
                  <a:pt x="0" y="1252355"/>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0">
            <a:off x="8119761" y="0"/>
            <a:ext cx="1845766" cy="1738376"/>
          </a:xfrm>
          <a:custGeom>
            <a:avLst/>
            <a:gdLst/>
            <a:ahLst/>
            <a:cxnLst/>
            <a:rect r="r" b="b" t="t" l="l"/>
            <a:pathLst>
              <a:path h="1738376" w="1845766">
                <a:moveTo>
                  <a:pt x="0" y="0"/>
                </a:moveTo>
                <a:lnTo>
                  <a:pt x="1845766" y="0"/>
                </a:lnTo>
                <a:lnTo>
                  <a:pt x="1845766" y="1738376"/>
                </a:lnTo>
                <a:lnTo>
                  <a:pt x="0" y="173837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9567964" y="750168"/>
            <a:ext cx="6660354" cy="1220519"/>
          </a:xfrm>
          <a:prstGeom prst="rect">
            <a:avLst/>
          </a:prstGeom>
        </p:spPr>
        <p:txBody>
          <a:bodyPr anchor="t" rtlCol="false" tIns="0" lIns="0" bIns="0" rIns="0">
            <a:spAutoFit/>
          </a:bodyPr>
          <a:lstStyle/>
          <a:p>
            <a:pPr algn="ctr">
              <a:lnSpc>
                <a:spcPts val="9902"/>
              </a:lnSpc>
            </a:pPr>
            <a:r>
              <a:rPr lang="en-US" sz="7073">
                <a:solidFill>
                  <a:srgbClr val="FFB3D0"/>
                </a:solidFill>
                <a:latin typeface="Carlsons Script"/>
                <a:ea typeface="Carlsons Script"/>
                <a:cs typeface="Carlsons Script"/>
                <a:sym typeface="Carlsons Script"/>
              </a:rPr>
              <a:t>tatistic  Dataset</a:t>
            </a:r>
          </a:p>
        </p:txBody>
      </p:sp>
      <p:sp>
        <p:nvSpPr>
          <p:cNvPr name="Freeform 5" id="5"/>
          <p:cNvSpPr/>
          <p:nvPr/>
        </p:nvSpPr>
        <p:spPr>
          <a:xfrm flipH="false" flipV="false" rot="0">
            <a:off x="437363" y="1738376"/>
            <a:ext cx="8422959" cy="9725978"/>
          </a:xfrm>
          <a:custGeom>
            <a:avLst/>
            <a:gdLst/>
            <a:ahLst/>
            <a:cxnLst/>
            <a:rect r="r" b="b" t="t" l="l"/>
            <a:pathLst>
              <a:path h="9725978" w="8422959">
                <a:moveTo>
                  <a:pt x="0" y="0"/>
                </a:moveTo>
                <a:lnTo>
                  <a:pt x="8422959" y="0"/>
                </a:lnTo>
                <a:lnTo>
                  <a:pt x="8422959" y="9725978"/>
                </a:lnTo>
                <a:lnTo>
                  <a:pt x="0" y="9725978"/>
                </a:lnTo>
                <a:lnTo>
                  <a:pt x="0" y="0"/>
                </a:lnTo>
                <a:close/>
              </a:path>
            </a:pathLst>
          </a:custGeom>
          <a:blipFill>
            <a:blip r:embed="rId5"/>
            <a:stretch>
              <a:fillRect l="-3564" t="-3152" r="0" b="-3152"/>
            </a:stretch>
          </a:blipFill>
        </p:spPr>
      </p:sp>
      <p:sp>
        <p:nvSpPr>
          <p:cNvPr name="Freeform 6" id="6"/>
          <p:cNvSpPr/>
          <p:nvPr/>
        </p:nvSpPr>
        <p:spPr>
          <a:xfrm flipH="false" flipV="false" rot="0">
            <a:off x="2746715" y="0"/>
            <a:ext cx="3022281" cy="1967206"/>
          </a:xfrm>
          <a:custGeom>
            <a:avLst/>
            <a:gdLst/>
            <a:ahLst/>
            <a:cxnLst/>
            <a:rect r="r" b="b" t="t" l="l"/>
            <a:pathLst>
              <a:path h="1967206" w="3022281">
                <a:moveTo>
                  <a:pt x="0" y="0"/>
                </a:moveTo>
                <a:lnTo>
                  <a:pt x="3022281" y="0"/>
                </a:lnTo>
                <a:lnTo>
                  <a:pt x="3022281" y="1967206"/>
                </a:lnTo>
                <a:lnTo>
                  <a:pt x="0" y="1967206"/>
                </a:lnTo>
                <a:lnTo>
                  <a:pt x="0" y="0"/>
                </a:lnTo>
                <a:close/>
              </a:path>
            </a:pathLst>
          </a:custGeom>
          <a:blipFill>
            <a:blip r:embed="rId6"/>
            <a:stretch>
              <a:fillRect l="0" t="0" r="0" b="0"/>
            </a:stretch>
          </a:blipFill>
        </p:spPr>
      </p:sp>
      <p:sp>
        <p:nvSpPr>
          <p:cNvPr name="Freeform 7" id="7"/>
          <p:cNvSpPr/>
          <p:nvPr/>
        </p:nvSpPr>
        <p:spPr>
          <a:xfrm flipH="false" flipV="false" rot="-5400000">
            <a:off x="6033301" y="5638319"/>
            <a:ext cx="6003673" cy="1065652"/>
          </a:xfrm>
          <a:custGeom>
            <a:avLst/>
            <a:gdLst/>
            <a:ahLst/>
            <a:cxnLst/>
            <a:rect r="r" b="b" t="t" l="l"/>
            <a:pathLst>
              <a:path h="1065652" w="6003673">
                <a:moveTo>
                  <a:pt x="0" y="0"/>
                </a:moveTo>
                <a:lnTo>
                  <a:pt x="6003673" y="0"/>
                </a:lnTo>
                <a:lnTo>
                  <a:pt x="6003673" y="1065652"/>
                </a:lnTo>
                <a:lnTo>
                  <a:pt x="0" y="1065652"/>
                </a:lnTo>
                <a:lnTo>
                  <a:pt x="0" y="0"/>
                </a:lnTo>
                <a:close/>
              </a:path>
            </a:pathLst>
          </a:custGeom>
          <a:blipFill>
            <a:blip r:embed="rId7"/>
            <a:stretch>
              <a:fillRect l="0" t="0" r="0" b="0"/>
            </a:stretch>
          </a:blipFill>
        </p:spPr>
      </p:sp>
      <p:sp>
        <p:nvSpPr>
          <p:cNvPr name="Freeform 8" id="8"/>
          <p:cNvSpPr/>
          <p:nvPr/>
        </p:nvSpPr>
        <p:spPr>
          <a:xfrm flipH="false" flipV="false" rot="0">
            <a:off x="17008203" y="9296321"/>
            <a:ext cx="1279797" cy="995915"/>
          </a:xfrm>
          <a:custGeom>
            <a:avLst/>
            <a:gdLst/>
            <a:ahLst/>
            <a:cxnLst/>
            <a:rect r="r" b="b" t="t" l="l"/>
            <a:pathLst>
              <a:path h="995915" w="1279797">
                <a:moveTo>
                  <a:pt x="0" y="0"/>
                </a:moveTo>
                <a:lnTo>
                  <a:pt x="1279797" y="0"/>
                </a:lnTo>
                <a:lnTo>
                  <a:pt x="1279797" y="995915"/>
                </a:lnTo>
                <a:lnTo>
                  <a:pt x="0" y="99591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8696015" y="1496674"/>
            <a:ext cx="895970" cy="895970"/>
          </a:xfrm>
          <a:custGeom>
            <a:avLst/>
            <a:gdLst/>
            <a:ahLst/>
            <a:cxnLst/>
            <a:rect r="r" b="b" t="t" l="l"/>
            <a:pathLst>
              <a:path h="895970" w="895970">
                <a:moveTo>
                  <a:pt x="0" y="0"/>
                </a:moveTo>
                <a:lnTo>
                  <a:pt x="895970" y="0"/>
                </a:lnTo>
                <a:lnTo>
                  <a:pt x="895970" y="895969"/>
                </a:lnTo>
                <a:lnTo>
                  <a:pt x="0" y="89596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10" id="10"/>
          <p:cNvSpPr/>
          <p:nvPr/>
        </p:nvSpPr>
        <p:spPr>
          <a:xfrm flipH="false" flipV="false" rot="3832846">
            <a:off x="14243791" y="2147422"/>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12"/>
            <a:stretch>
              <a:fillRect l="0" t="0" r="0" b="0"/>
            </a:stretch>
          </a:blipFill>
        </p:spPr>
      </p:sp>
      <p:sp>
        <p:nvSpPr>
          <p:cNvPr name="Freeform 11" id="11"/>
          <p:cNvSpPr/>
          <p:nvPr/>
        </p:nvSpPr>
        <p:spPr>
          <a:xfrm flipH="false" flipV="false" rot="0">
            <a:off x="795374" y="4029748"/>
            <a:ext cx="7706938" cy="5143233"/>
          </a:xfrm>
          <a:custGeom>
            <a:avLst/>
            <a:gdLst/>
            <a:ahLst/>
            <a:cxnLst/>
            <a:rect r="r" b="b" t="t" l="l"/>
            <a:pathLst>
              <a:path h="5143233" w="7706938">
                <a:moveTo>
                  <a:pt x="0" y="0"/>
                </a:moveTo>
                <a:lnTo>
                  <a:pt x="7706938" y="0"/>
                </a:lnTo>
                <a:lnTo>
                  <a:pt x="7706938" y="5143234"/>
                </a:lnTo>
                <a:lnTo>
                  <a:pt x="0" y="5143234"/>
                </a:lnTo>
                <a:lnTo>
                  <a:pt x="0" y="0"/>
                </a:lnTo>
                <a:close/>
              </a:path>
            </a:pathLst>
          </a:custGeom>
          <a:blipFill>
            <a:blip r:embed="rId13"/>
            <a:stretch>
              <a:fillRect l="0" t="0" r="0" b="0"/>
            </a:stretch>
          </a:blipFill>
        </p:spPr>
      </p:sp>
      <p:sp>
        <p:nvSpPr>
          <p:cNvPr name="TextBox 12" id="12"/>
          <p:cNvSpPr txBox="true"/>
          <p:nvPr/>
        </p:nvSpPr>
        <p:spPr>
          <a:xfrm rot="0">
            <a:off x="9286235" y="2874566"/>
            <a:ext cx="7973065" cy="6421755"/>
          </a:xfrm>
          <a:prstGeom prst="rect">
            <a:avLst/>
          </a:prstGeom>
        </p:spPr>
        <p:txBody>
          <a:bodyPr anchor="t" rtlCol="false" tIns="0" lIns="0" bIns="0" rIns="0">
            <a:spAutoFit/>
          </a:bodyPr>
          <a:lstStyle/>
          <a:p>
            <a:pPr algn="just" marL="712470" indent="-356235" lvl="1">
              <a:lnSpc>
                <a:spcPts val="4620"/>
              </a:lnSpc>
              <a:buFont typeface="Arial"/>
              <a:buChar char="•"/>
            </a:pPr>
            <a:r>
              <a:rPr lang="en-US" sz="3300" i="true">
                <a:solidFill>
                  <a:srgbClr val="FFFFFF"/>
                </a:solidFill>
                <a:latin typeface="Roboto Italics"/>
                <a:ea typeface="Roboto Italics"/>
                <a:cs typeface="Roboto Italics"/>
                <a:sym typeface="Roboto Italics"/>
              </a:rPr>
              <a:t>Usia rata-rata subjek adalah sekitar 53 tahun, dengan rentang dari 28 hingga 77 tahun</a:t>
            </a:r>
          </a:p>
          <a:p>
            <a:pPr algn="just" marL="712470" indent="-356235" lvl="1">
              <a:lnSpc>
                <a:spcPts val="4620"/>
              </a:lnSpc>
              <a:buFont typeface="Arial"/>
              <a:buChar char="•"/>
            </a:pPr>
            <a:r>
              <a:rPr lang="en-US" sz="3300" i="true">
                <a:solidFill>
                  <a:srgbClr val="FFFFFF"/>
                </a:solidFill>
                <a:latin typeface="Roboto Italics"/>
                <a:ea typeface="Roboto Italics"/>
                <a:cs typeface="Roboto Italics"/>
                <a:sym typeface="Roboto Italics"/>
              </a:rPr>
              <a:t>Nilai rata-rata kolesterol adalah sekitar 198 mg/dL</a:t>
            </a:r>
          </a:p>
          <a:p>
            <a:pPr algn="just" marL="712470" indent="-356235" lvl="1">
              <a:lnSpc>
                <a:spcPts val="4620"/>
              </a:lnSpc>
              <a:buFont typeface="Arial"/>
              <a:buChar char="•"/>
            </a:pPr>
            <a:r>
              <a:rPr lang="en-US" sz="3300" i="true">
                <a:solidFill>
                  <a:srgbClr val="FFFFFF"/>
                </a:solidFill>
                <a:latin typeface="Roboto Italics"/>
                <a:ea typeface="Roboto Italics"/>
                <a:cs typeface="Roboto Italics"/>
                <a:sym typeface="Roboto Italics"/>
              </a:rPr>
              <a:t>Detak jantung maksimum rata-rata adalah sekitar 136 bpm</a:t>
            </a:r>
          </a:p>
          <a:p>
            <a:pPr algn="just" marL="712470" indent="-356235" lvl="1">
              <a:lnSpc>
                <a:spcPts val="4620"/>
              </a:lnSpc>
              <a:buFont typeface="Arial"/>
              <a:buChar char="•"/>
            </a:pPr>
            <a:r>
              <a:rPr lang="en-US" sz="3300" i="true">
                <a:solidFill>
                  <a:srgbClr val="FFFFFF"/>
                </a:solidFill>
                <a:latin typeface="Roboto Italics"/>
                <a:ea typeface="Roboto Italics"/>
                <a:cs typeface="Roboto Italics"/>
                <a:sym typeface="Roboto Italics"/>
              </a:rPr>
              <a:t>Dataset ini tidak memiliki nilai yang hilang, sehingga memudahkan proses analisis</a:t>
            </a:r>
          </a:p>
          <a:p>
            <a:pPr algn="just">
              <a:lnSpc>
                <a:spcPts val="4620"/>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5079">
            <a:off x="816825" y="1921922"/>
            <a:ext cx="8270121" cy="6106277"/>
          </a:xfrm>
          <a:custGeom>
            <a:avLst/>
            <a:gdLst/>
            <a:ahLst/>
            <a:cxnLst/>
            <a:rect r="r" b="b" t="t" l="l"/>
            <a:pathLst>
              <a:path h="6106277" w="8270121">
                <a:moveTo>
                  <a:pt x="0" y="0"/>
                </a:moveTo>
                <a:lnTo>
                  <a:pt x="8270121" y="0"/>
                </a:lnTo>
                <a:lnTo>
                  <a:pt x="8270121" y="6106277"/>
                </a:lnTo>
                <a:lnTo>
                  <a:pt x="0" y="6106277"/>
                </a:lnTo>
                <a:lnTo>
                  <a:pt x="0" y="0"/>
                </a:lnTo>
                <a:close/>
              </a:path>
            </a:pathLst>
          </a:custGeom>
          <a:blipFill>
            <a:blip r:embed="rId3"/>
            <a:stretch>
              <a:fillRect l="0" t="0" r="0" b="0"/>
            </a:stretch>
          </a:blipFill>
        </p:spPr>
      </p:sp>
      <p:sp>
        <p:nvSpPr>
          <p:cNvPr name="Freeform 4" id="4"/>
          <p:cNvSpPr/>
          <p:nvPr/>
        </p:nvSpPr>
        <p:spPr>
          <a:xfrm flipH="false" flipV="false" rot="0">
            <a:off x="8989179" y="3946607"/>
            <a:ext cx="8270121" cy="6106277"/>
          </a:xfrm>
          <a:custGeom>
            <a:avLst/>
            <a:gdLst/>
            <a:ahLst/>
            <a:cxnLst/>
            <a:rect r="r" b="b" t="t" l="l"/>
            <a:pathLst>
              <a:path h="6106277" w="8270121">
                <a:moveTo>
                  <a:pt x="0" y="0"/>
                </a:moveTo>
                <a:lnTo>
                  <a:pt x="8270121" y="0"/>
                </a:lnTo>
                <a:lnTo>
                  <a:pt x="8270121" y="6106277"/>
                </a:lnTo>
                <a:lnTo>
                  <a:pt x="0" y="6106277"/>
                </a:lnTo>
                <a:lnTo>
                  <a:pt x="0" y="0"/>
                </a:lnTo>
                <a:close/>
              </a:path>
            </a:pathLst>
          </a:custGeom>
          <a:blipFill>
            <a:blip r:embed="rId3"/>
            <a:stretch>
              <a:fillRect l="0" t="0" r="0" b="0"/>
            </a:stretch>
          </a:blipFill>
        </p:spPr>
      </p:sp>
      <p:sp>
        <p:nvSpPr>
          <p:cNvPr name="TextBox 5" id="5"/>
          <p:cNvSpPr txBox="true"/>
          <p:nvPr/>
        </p:nvSpPr>
        <p:spPr>
          <a:xfrm rot="0">
            <a:off x="2933286" y="310669"/>
            <a:ext cx="12484875" cy="1533525"/>
          </a:xfrm>
          <a:prstGeom prst="rect">
            <a:avLst/>
          </a:prstGeom>
        </p:spPr>
        <p:txBody>
          <a:bodyPr anchor="t" rtlCol="false" tIns="0" lIns="0" bIns="0" rIns="0">
            <a:spAutoFit/>
          </a:bodyPr>
          <a:lstStyle/>
          <a:p>
            <a:pPr algn="ctr">
              <a:lnSpc>
                <a:spcPts val="12599"/>
              </a:lnSpc>
            </a:pPr>
            <a:r>
              <a:rPr lang="en-US" sz="9000">
                <a:solidFill>
                  <a:srgbClr val="FFB3D0"/>
                </a:solidFill>
                <a:latin typeface="Carlsons Script"/>
                <a:ea typeface="Carlsons Script"/>
                <a:cs typeface="Carlsons Script"/>
                <a:sym typeface="Carlsons Script"/>
              </a:rPr>
              <a:t>Distribusi  Dataset</a:t>
            </a:r>
          </a:p>
        </p:txBody>
      </p:sp>
      <p:sp>
        <p:nvSpPr>
          <p:cNvPr name="Freeform 6" id="6"/>
          <p:cNvSpPr/>
          <p:nvPr/>
        </p:nvSpPr>
        <p:spPr>
          <a:xfrm flipH="false" flipV="false" rot="1493894">
            <a:off x="14243791" y="1649551"/>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7" id="7"/>
          <p:cNvSpPr/>
          <p:nvPr/>
        </p:nvSpPr>
        <p:spPr>
          <a:xfrm flipH="false" flipV="false" rot="-4440255">
            <a:off x="-4037420" y="1649551"/>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8" id="8"/>
          <p:cNvSpPr/>
          <p:nvPr/>
        </p:nvSpPr>
        <p:spPr>
          <a:xfrm flipH="false" flipV="false" rot="0">
            <a:off x="14379174" y="2719649"/>
            <a:ext cx="1215488" cy="945871"/>
          </a:xfrm>
          <a:custGeom>
            <a:avLst/>
            <a:gdLst/>
            <a:ahLst/>
            <a:cxnLst/>
            <a:rect r="r" b="b" t="t" l="l"/>
            <a:pathLst>
              <a:path h="945871" w="1215488">
                <a:moveTo>
                  <a:pt x="0" y="0"/>
                </a:moveTo>
                <a:lnTo>
                  <a:pt x="1215488" y="0"/>
                </a:lnTo>
                <a:lnTo>
                  <a:pt x="1215488" y="945871"/>
                </a:lnTo>
                <a:lnTo>
                  <a:pt x="0" y="94587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2848733" y="1517065"/>
            <a:ext cx="1056260" cy="994805"/>
          </a:xfrm>
          <a:custGeom>
            <a:avLst/>
            <a:gdLst/>
            <a:ahLst/>
            <a:cxnLst/>
            <a:rect r="r" b="b" t="t" l="l"/>
            <a:pathLst>
              <a:path h="994805" w="1056260">
                <a:moveTo>
                  <a:pt x="0" y="0"/>
                </a:moveTo>
                <a:lnTo>
                  <a:pt x="1056259" y="0"/>
                </a:lnTo>
                <a:lnTo>
                  <a:pt x="1056259" y="994804"/>
                </a:lnTo>
                <a:lnTo>
                  <a:pt x="0" y="99480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0" id="10"/>
          <p:cNvSpPr txBox="true"/>
          <p:nvPr/>
        </p:nvSpPr>
        <p:spPr>
          <a:xfrm rot="0">
            <a:off x="10102416" y="5215124"/>
            <a:ext cx="6526996" cy="3478159"/>
          </a:xfrm>
          <a:prstGeom prst="rect">
            <a:avLst/>
          </a:prstGeom>
        </p:spPr>
        <p:txBody>
          <a:bodyPr anchor="t" rtlCol="false" tIns="0" lIns="0" bIns="0" rIns="0">
            <a:spAutoFit/>
          </a:bodyPr>
          <a:lstStyle/>
          <a:p>
            <a:pPr algn="ctr">
              <a:lnSpc>
                <a:spcPts val="4640"/>
              </a:lnSpc>
            </a:pPr>
            <a:r>
              <a:rPr lang="en-US" sz="3314" i="true">
                <a:solidFill>
                  <a:srgbClr val="435E8A"/>
                </a:solidFill>
                <a:latin typeface="Roboto Italics"/>
                <a:ea typeface="Roboto Italics"/>
                <a:cs typeface="Roboto Italics"/>
                <a:sym typeface="Roboto Italics"/>
              </a:rPr>
              <a:t> </a:t>
            </a:r>
            <a:r>
              <a:rPr lang="en-US" sz="3314" i="true">
                <a:solidFill>
                  <a:srgbClr val="435E8A"/>
                </a:solidFill>
                <a:latin typeface="Roboto Italics"/>
                <a:ea typeface="Roboto Italics"/>
                <a:cs typeface="Roboto Italics"/>
                <a:sym typeface="Roboto Italics"/>
              </a:rPr>
              <a:t> S</a:t>
            </a:r>
            <a:r>
              <a:rPr lang="en-US" sz="3314" i="true">
                <a:solidFill>
                  <a:srgbClr val="435E8A"/>
                </a:solidFill>
                <a:latin typeface="Roboto Italics"/>
                <a:ea typeface="Roboto Italics"/>
                <a:cs typeface="Roboto Italics"/>
                <a:sym typeface="Roboto Italics"/>
              </a:rPr>
              <a:t>ekitar 55% sampel diklasifikasikan sebagai memiliki penyakit jantung (nilai 1) dan 45% diklasifikasikan sebagai tidak memiliki penyakit jantung (nilai 0).</a:t>
            </a:r>
          </a:p>
          <a:p>
            <a:pPr algn="ctr">
              <a:lnSpc>
                <a:spcPts val="4640"/>
              </a:lnSpc>
            </a:pPr>
          </a:p>
        </p:txBody>
      </p:sp>
      <p:sp>
        <p:nvSpPr>
          <p:cNvPr name="Freeform 11" id="11"/>
          <p:cNvSpPr/>
          <p:nvPr/>
        </p:nvSpPr>
        <p:spPr>
          <a:xfrm flipH="false" flipV="false" rot="359542">
            <a:off x="474323" y="4756250"/>
            <a:ext cx="1560705" cy="774500"/>
          </a:xfrm>
          <a:custGeom>
            <a:avLst/>
            <a:gdLst/>
            <a:ahLst/>
            <a:cxnLst/>
            <a:rect r="r" b="b" t="t" l="l"/>
            <a:pathLst>
              <a:path h="774500" w="1560705">
                <a:moveTo>
                  <a:pt x="0" y="0"/>
                </a:moveTo>
                <a:lnTo>
                  <a:pt x="1560705" y="0"/>
                </a:lnTo>
                <a:lnTo>
                  <a:pt x="1560705" y="774500"/>
                </a:lnTo>
                <a:lnTo>
                  <a:pt x="0" y="774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2" id="12"/>
          <p:cNvSpPr/>
          <p:nvPr/>
        </p:nvSpPr>
        <p:spPr>
          <a:xfrm flipH="false" flipV="false" rot="-441580">
            <a:off x="16414389" y="5386747"/>
            <a:ext cx="1560705" cy="774500"/>
          </a:xfrm>
          <a:custGeom>
            <a:avLst/>
            <a:gdLst/>
            <a:ahLst/>
            <a:cxnLst/>
            <a:rect r="r" b="b" t="t" l="l"/>
            <a:pathLst>
              <a:path h="774500" w="1560705">
                <a:moveTo>
                  <a:pt x="0" y="0"/>
                </a:moveTo>
                <a:lnTo>
                  <a:pt x="1560704" y="0"/>
                </a:lnTo>
                <a:lnTo>
                  <a:pt x="1560704" y="774500"/>
                </a:lnTo>
                <a:lnTo>
                  <a:pt x="0" y="77450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3" id="13"/>
          <p:cNvSpPr/>
          <p:nvPr/>
        </p:nvSpPr>
        <p:spPr>
          <a:xfrm flipH="false" flipV="false" rot="0">
            <a:off x="2071191" y="2719649"/>
            <a:ext cx="5789791" cy="4787424"/>
          </a:xfrm>
          <a:custGeom>
            <a:avLst/>
            <a:gdLst/>
            <a:ahLst/>
            <a:cxnLst/>
            <a:rect r="r" b="b" t="t" l="l"/>
            <a:pathLst>
              <a:path h="4787424" w="5789791">
                <a:moveTo>
                  <a:pt x="0" y="0"/>
                </a:moveTo>
                <a:lnTo>
                  <a:pt x="5789791" y="0"/>
                </a:lnTo>
                <a:lnTo>
                  <a:pt x="5789791" y="4787424"/>
                </a:lnTo>
                <a:lnTo>
                  <a:pt x="0" y="4787424"/>
                </a:lnTo>
                <a:lnTo>
                  <a:pt x="0" y="0"/>
                </a:lnTo>
                <a:close/>
              </a:path>
            </a:pathLst>
          </a:custGeom>
          <a:blipFill>
            <a:blip r:embed="rId11"/>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0">
            <a:off x="9206373" y="3299212"/>
            <a:ext cx="1326396" cy="1399891"/>
          </a:xfrm>
          <a:custGeom>
            <a:avLst/>
            <a:gdLst/>
            <a:ahLst/>
            <a:cxnLst/>
            <a:rect r="r" b="b" t="t" l="l"/>
            <a:pathLst>
              <a:path h="1399891" w="1326396">
                <a:moveTo>
                  <a:pt x="0" y="0"/>
                </a:moveTo>
                <a:lnTo>
                  <a:pt x="1326396" y="0"/>
                </a:lnTo>
                <a:lnTo>
                  <a:pt x="1326396" y="1399890"/>
                </a:lnTo>
                <a:lnTo>
                  <a:pt x="0" y="1399890"/>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601337" y="3704689"/>
            <a:ext cx="536468" cy="588937"/>
          </a:xfrm>
          <a:custGeom>
            <a:avLst/>
            <a:gdLst/>
            <a:ahLst/>
            <a:cxnLst/>
            <a:rect r="r" b="b" t="t" l="l"/>
            <a:pathLst>
              <a:path h="588937" w="536468">
                <a:moveTo>
                  <a:pt x="0" y="0"/>
                </a:moveTo>
                <a:lnTo>
                  <a:pt x="536468" y="0"/>
                </a:lnTo>
                <a:lnTo>
                  <a:pt x="536468" y="588936"/>
                </a:lnTo>
                <a:lnTo>
                  <a:pt x="0" y="58893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TextBox 5" id="5"/>
          <p:cNvSpPr txBox="true"/>
          <p:nvPr/>
        </p:nvSpPr>
        <p:spPr>
          <a:xfrm rot="0">
            <a:off x="2180466" y="404489"/>
            <a:ext cx="14932197" cy="2797102"/>
          </a:xfrm>
          <a:prstGeom prst="rect">
            <a:avLst/>
          </a:prstGeom>
        </p:spPr>
        <p:txBody>
          <a:bodyPr anchor="t" rtlCol="false" tIns="0" lIns="0" bIns="0" rIns="0">
            <a:spAutoFit/>
          </a:bodyPr>
          <a:lstStyle/>
          <a:p>
            <a:pPr algn="ctr">
              <a:lnSpc>
                <a:spcPts val="11200"/>
              </a:lnSpc>
            </a:pPr>
            <a:r>
              <a:rPr lang="en-US" sz="8000">
                <a:solidFill>
                  <a:srgbClr val="FFB3D0"/>
                </a:solidFill>
                <a:latin typeface="Carlsons Script"/>
                <a:ea typeface="Carlsons Script"/>
                <a:cs typeface="Carlsons Script"/>
                <a:sym typeface="Carlsons Script"/>
              </a:rPr>
              <a:t>Eksplorasi Data dan Pra-pemrosesan</a:t>
            </a:r>
          </a:p>
        </p:txBody>
      </p:sp>
      <p:sp>
        <p:nvSpPr>
          <p:cNvPr name="Freeform 6" id="6"/>
          <p:cNvSpPr/>
          <p:nvPr/>
        </p:nvSpPr>
        <p:spPr>
          <a:xfrm flipH="false" flipV="false" rot="0">
            <a:off x="1787510" y="3518462"/>
            <a:ext cx="1213113" cy="1280331"/>
          </a:xfrm>
          <a:custGeom>
            <a:avLst/>
            <a:gdLst/>
            <a:ahLst/>
            <a:cxnLst/>
            <a:rect r="r" b="b" t="t" l="l"/>
            <a:pathLst>
              <a:path h="1280331" w="1213113">
                <a:moveTo>
                  <a:pt x="0" y="0"/>
                </a:moveTo>
                <a:lnTo>
                  <a:pt x="1213113" y="0"/>
                </a:lnTo>
                <a:lnTo>
                  <a:pt x="1213113" y="1280331"/>
                </a:lnTo>
                <a:lnTo>
                  <a:pt x="0" y="128033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2209950" y="3889309"/>
            <a:ext cx="368232" cy="538638"/>
          </a:xfrm>
          <a:custGeom>
            <a:avLst/>
            <a:gdLst/>
            <a:ahLst/>
            <a:cxnLst/>
            <a:rect r="r" b="b" t="t" l="l"/>
            <a:pathLst>
              <a:path h="538638" w="368232">
                <a:moveTo>
                  <a:pt x="0" y="0"/>
                </a:moveTo>
                <a:lnTo>
                  <a:pt x="368232" y="0"/>
                </a:lnTo>
                <a:lnTo>
                  <a:pt x="368232" y="538637"/>
                </a:lnTo>
                <a:lnTo>
                  <a:pt x="0" y="53863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true" flipV="false" rot="0">
            <a:off x="8393446" y="3256317"/>
            <a:ext cx="460502" cy="632992"/>
          </a:xfrm>
          <a:custGeom>
            <a:avLst/>
            <a:gdLst/>
            <a:ahLst/>
            <a:cxnLst/>
            <a:rect r="r" b="b" t="t" l="l"/>
            <a:pathLst>
              <a:path h="632992" w="460502">
                <a:moveTo>
                  <a:pt x="460502" y="0"/>
                </a:moveTo>
                <a:lnTo>
                  <a:pt x="0" y="0"/>
                </a:lnTo>
                <a:lnTo>
                  <a:pt x="0" y="632992"/>
                </a:lnTo>
                <a:lnTo>
                  <a:pt x="460502" y="632992"/>
                </a:lnTo>
                <a:lnTo>
                  <a:pt x="460502"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6950277">
            <a:off x="17186136" y="-525374"/>
            <a:ext cx="7749311" cy="5721735"/>
          </a:xfrm>
          <a:custGeom>
            <a:avLst/>
            <a:gdLst/>
            <a:ahLst/>
            <a:cxnLst/>
            <a:rect r="r" b="b" t="t" l="l"/>
            <a:pathLst>
              <a:path h="5721735" w="7749311">
                <a:moveTo>
                  <a:pt x="0" y="0"/>
                </a:moveTo>
                <a:lnTo>
                  <a:pt x="7749311" y="0"/>
                </a:lnTo>
                <a:lnTo>
                  <a:pt x="7749311" y="5721735"/>
                </a:lnTo>
                <a:lnTo>
                  <a:pt x="0" y="5721735"/>
                </a:lnTo>
                <a:lnTo>
                  <a:pt x="0" y="0"/>
                </a:lnTo>
                <a:close/>
              </a:path>
            </a:pathLst>
          </a:custGeom>
          <a:blipFill>
            <a:blip r:embed="rId11"/>
            <a:stretch>
              <a:fillRect l="0" t="0" r="0" b="0"/>
            </a:stretch>
          </a:blipFill>
        </p:spPr>
      </p:sp>
      <p:sp>
        <p:nvSpPr>
          <p:cNvPr name="Freeform 10" id="10"/>
          <p:cNvSpPr/>
          <p:nvPr/>
        </p:nvSpPr>
        <p:spPr>
          <a:xfrm flipH="false" flipV="true" rot="-4876219">
            <a:off x="-6741837" y="144810"/>
            <a:ext cx="9138303" cy="6747303"/>
          </a:xfrm>
          <a:custGeom>
            <a:avLst/>
            <a:gdLst/>
            <a:ahLst/>
            <a:cxnLst/>
            <a:rect r="r" b="b" t="t" l="l"/>
            <a:pathLst>
              <a:path h="6747303" w="9138303">
                <a:moveTo>
                  <a:pt x="0" y="6747304"/>
                </a:moveTo>
                <a:lnTo>
                  <a:pt x="9138303" y="6747304"/>
                </a:lnTo>
                <a:lnTo>
                  <a:pt x="9138303" y="0"/>
                </a:lnTo>
                <a:lnTo>
                  <a:pt x="0" y="0"/>
                </a:lnTo>
                <a:lnTo>
                  <a:pt x="0" y="6747304"/>
                </a:lnTo>
                <a:close/>
              </a:path>
            </a:pathLst>
          </a:custGeom>
          <a:blipFill>
            <a:blip r:embed="rId11"/>
            <a:stretch>
              <a:fillRect l="0" t="0" r="0" b="0"/>
            </a:stretch>
          </a:blipFill>
        </p:spPr>
      </p:sp>
      <p:sp>
        <p:nvSpPr>
          <p:cNvPr name="Freeform 11" id="11"/>
          <p:cNvSpPr/>
          <p:nvPr/>
        </p:nvSpPr>
        <p:spPr>
          <a:xfrm flipH="false" flipV="false" rot="0">
            <a:off x="4487698" y="1928080"/>
            <a:ext cx="814827" cy="814827"/>
          </a:xfrm>
          <a:custGeom>
            <a:avLst/>
            <a:gdLst/>
            <a:ahLst/>
            <a:cxnLst/>
            <a:rect r="r" b="b" t="t" l="l"/>
            <a:pathLst>
              <a:path h="814827" w="814827">
                <a:moveTo>
                  <a:pt x="0" y="0"/>
                </a:moveTo>
                <a:lnTo>
                  <a:pt x="814828" y="0"/>
                </a:lnTo>
                <a:lnTo>
                  <a:pt x="814828" y="814827"/>
                </a:lnTo>
                <a:lnTo>
                  <a:pt x="0" y="814827"/>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4011913" y="1786377"/>
            <a:ext cx="956530" cy="956530"/>
          </a:xfrm>
          <a:custGeom>
            <a:avLst/>
            <a:gdLst/>
            <a:ahLst/>
            <a:cxnLst/>
            <a:rect r="r" b="b" t="t" l="l"/>
            <a:pathLst>
              <a:path h="956530" w="956530">
                <a:moveTo>
                  <a:pt x="0" y="0"/>
                </a:moveTo>
                <a:lnTo>
                  <a:pt x="956530" y="0"/>
                </a:lnTo>
                <a:lnTo>
                  <a:pt x="956530" y="956530"/>
                </a:lnTo>
                <a:lnTo>
                  <a:pt x="0" y="95653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3" id="13"/>
          <p:cNvSpPr/>
          <p:nvPr/>
        </p:nvSpPr>
        <p:spPr>
          <a:xfrm flipH="false" flipV="false" rot="0">
            <a:off x="1922620" y="5590814"/>
            <a:ext cx="3656887" cy="3992724"/>
          </a:xfrm>
          <a:custGeom>
            <a:avLst/>
            <a:gdLst/>
            <a:ahLst/>
            <a:cxnLst/>
            <a:rect r="r" b="b" t="t" l="l"/>
            <a:pathLst>
              <a:path h="3992724" w="3656887">
                <a:moveTo>
                  <a:pt x="0" y="0"/>
                </a:moveTo>
                <a:lnTo>
                  <a:pt x="3656887" y="0"/>
                </a:lnTo>
                <a:lnTo>
                  <a:pt x="3656887" y="3992724"/>
                </a:lnTo>
                <a:lnTo>
                  <a:pt x="0" y="3992724"/>
                </a:lnTo>
                <a:lnTo>
                  <a:pt x="0" y="0"/>
                </a:lnTo>
                <a:close/>
              </a:path>
            </a:pathLst>
          </a:custGeom>
          <a:blipFill>
            <a:blip r:embed="rId16"/>
            <a:stretch>
              <a:fillRect l="0" t="0" r="0" b="0"/>
            </a:stretch>
          </a:blipFill>
        </p:spPr>
      </p:sp>
      <p:sp>
        <p:nvSpPr>
          <p:cNvPr name="Freeform 14" id="14"/>
          <p:cNvSpPr/>
          <p:nvPr/>
        </p:nvSpPr>
        <p:spPr>
          <a:xfrm flipH="false" flipV="false" rot="0">
            <a:off x="12001926" y="3795727"/>
            <a:ext cx="5933034" cy="5462573"/>
          </a:xfrm>
          <a:custGeom>
            <a:avLst/>
            <a:gdLst/>
            <a:ahLst/>
            <a:cxnLst/>
            <a:rect r="r" b="b" t="t" l="l"/>
            <a:pathLst>
              <a:path h="5462573" w="5933034">
                <a:moveTo>
                  <a:pt x="0" y="0"/>
                </a:moveTo>
                <a:lnTo>
                  <a:pt x="5933034" y="0"/>
                </a:lnTo>
                <a:lnTo>
                  <a:pt x="5933034" y="5462573"/>
                </a:lnTo>
                <a:lnTo>
                  <a:pt x="0" y="5462573"/>
                </a:lnTo>
                <a:lnTo>
                  <a:pt x="0" y="0"/>
                </a:lnTo>
                <a:close/>
              </a:path>
            </a:pathLst>
          </a:custGeom>
          <a:blipFill>
            <a:blip r:embed="rId17"/>
            <a:stretch>
              <a:fillRect l="0" t="0" r="0" b="0"/>
            </a:stretch>
          </a:blipFill>
        </p:spPr>
      </p:sp>
      <p:sp>
        <p:nvSpPr>
          <p:cNvPr name="Freeform 15" id="15"/>
          <p:cNvSpPr/>
          <p:nvPr/>
        </p:nvSpPr>
        <p:spPr>
          <a:xfrm flipH="false" flipV="false" rot="0">
            <a:off x="8709422" y="4814507"/>
            <a:ext cx="3003362" cy="4722845"/>
          </a:xfrm>
          <a:custGeom>
            <a:avLst/>
            <a:gdLst/>
            <a:ahLst/>
            <a:cxnLst/>
            <a:rect r="r" b="b" t="t" l="l"/>
            <a:pathLst>
              <a:path h="4722845" w="3003362">
                <a:moveTo>
                  <a:pt x="0" y="0"/>
                </a:moveTo>
                <a:lnTo>
                  <a:pt x="3003363" y="0"/>
                </a:lnTo>
                <a:lnTo>
                  <a:pt x="3003363" y="4722845"/>
                </a:lnTo>
                <a:lnTo>
                  <a:pt x="0" y="4722845"/>
                </a:lnTo>
                <a:lnTo>
                  <a:pt x="0" y="0"/>
                </a:lnTo>
                <a:close/>
              </a:path>
            </a:pathLst>
          </a:custGeom>
          <a:blipFill>
            <a:blip r:embed="rId18"/>
            <a:stretch>
              <a:fillRect l="0" t="0" r="0" b="0"/>
            </a:stretch>
          </a:blipFill>
        </p:spPr>
      </p:sp>
      <p:sp>
        <p:nvSpPr>
          <p:cNvPr name="TextBox 16" id="16"/>
          <p:cNvSpPr txBox="true"/>
          <p:nvPr/>
        </p:nvSpPr>
        <p:spPr>
          <a:xfrm rot="0">
            <a:off x="2930607" y="3332414"/>
            <a:ext cx="4641742" cy="556895"/>
          </a:xfrm>
          <a:prstGeom prst="rect">
            <a:avLst/>
          </a:prstGeom>
        </p:spPr>
        <p:txBody>
          <a:bodyPr anchor="t" rtlCol="false" tIns="0" lIns="0" bIns="0" rIns="0">
            <a:spAutoFit/>
          </a:bodyPr>
          <a:lstStyle/>
          <a:p>
            <a:pPr algn="ctr">
              <a:lnSpc>
                <a:spcPts val="4480"/>
              </a:lnSpc>
            </a:pPr>
            <a:r>
              <a:rPr lang="en-US" sz="3200" b="true">
                <a:solidFill>
                  <a:srgbClr val="FFFFFF"/>
                </a:solidFill>
                <a:latin typeface="Roboto Bold"/>
                <a:ea typeface="Roboto Bold"/>
                <a:cs typeface="Roboto Bold"/>
                <a:sym typeface="Roboto Bold"/>
              </a:rPr>
              <a:t>Analisis Nilai Hilang</a:t>
            </a:r>
          </a:p>
        </p:txBody>
      </p:sp>
      <p:sp>
        <p:nvSpPr>
          <p:cNvPr name="TextBox 17" id="17"/>
          <p:cNvSpPr txBox="true"/>
          <p:nvPr/>
        </p:nvSpPr>
        <p:spPr>
          <a:xfrm rot="0">
            <a:off x="3353048" y="3922957"/>
            <a:ext cx="5270649" cy="1118870"/>
          </a:xfrm>
          <a:prstGeom prst="rect">
            <a:avLst/>
          </a:prstGeom>
        </p:spPr>
        <p:txBody>
          <a:bodyPr anchor="t" rtlCol="false" tIns="0" lIns="0" bIns="0" rIns="0">
            <a:spAutoFit/>
          </a:bodyPr>
          <a:lstStyle/>
          <a:p>
            <a:pPr algn="l">
              <a:lnSpc>
                <a:spcPts val="4479"/>
              </a:lnSpc>
            </a:pPr>
            <a:r>
              <a:rPr lang="en-US" sz="3199">
                <a:solidFill>
                  <a:srgbClr val="FFFFFF"/>
                </a:solidFill>
                <a:latin typeface="Roboto"/>
                <a:ea typeface="Roboto"/>
                <a:cs typeface="Roboto"/>
                <a:sym typeface="Roboto"/>
              </a:rPr>
              <a:t>pada </a:t>
            </a:r>
            <a:r>
              <a:rPr lang="en-US" sz="3199">
                <a:solidFill>
                  <a:srgbClr val="FFFFFF"/>
                </a:solidFill>
                <a:latin typeface="Roboto"/>
                <a:ea typeface="Roboto"/>
                <a:cs typeface="Roboto"/>
                <a:sym typeface="Roboto"/>
              </a:rPr>
              <a:t>dataset </a:t>
            </a:r>
            <a:r>
              <a:rPr lang="en-US" sz="3199">
                <a:solidFill>
                  <a:srgbClr val="FFFFFF"/>
                </a:solidFill>
                <a:latin typeface="Roboto"/>
                <a:ea typeface="Roboto"/>
                <a:cs typeface="Roboto"/>
                <a:sym typeface="Roboto"/>
              </a:rPr>
              <a:t> tidak ada nilai yang hilang/ Missing Value </a:t>
            </a:r>
          </a:p>
        </p:txBody>
      </p:sp>
      <p:sp>
        <p:nvSpPr>
          <p:cNvPr name="TextBox 18" id="18"/>
          <p:cNvSpPr txBox="true"/>
          <p:nvPr/>
        </p:nvSpPr>
        <p:spPr>
          <a:xfrm rot="0">
            <a:off x="13002334" y="3082355"/>
            <a:ext cx="3932219" cy="556895"/>
          </a:xfrm>
          <a:prstGeom prst="rect">
            <a:avLst/>
          </a:prstGeom>
        </p:spPr>
        <p:txBody>
          <a:bodyPr anchor="t" rtlCol="false" tIns="0" lIns="0" bIns="0" rIns="0">
            <a:spAutoFit/>
          </a:bodyPr>
          <a:lstStyle/>
          <a:p>
            <a:pPr algn="ctr">
              <a:lnSpc>
                <a:spcPts val="4479"/>
              </a:lnSpc>
            </a:pPr>
            <a:r>
              <a:rPr lang="en-US" b="true" sz="3199" i="true">
                <a:solidFill>
                  <a:srgbClr val="FFFFFF"/>
                </a:solidFill>
                <a:latin typeface="Roboto Bold Italics"/>
                <a:ea typeface="Roboto Bold Italics"/>
                <a:cs typeface="Roboto Bold Italics"/>
                <a:sym typeface="Roboto Bold Italics"/>
              </a:rPr>
              <a:t>Matriks Korelasi</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0">
            <a:off x="8494585" y="3518462"/>
            <a:ext cx="1963554" cy="2072352"/>
          </a:xfrm>
          <a:custGeom>
            <a:avLst/>
            <a:gdLst/>
            <a:ahLst/>
            <a:cxnLst/>
            <a:rect r="r" b="b" t="t" l="l"/>
            <a:pathLst>
              <a:path h="2072352" w="1963554">
                <a:moveTo>
                  <a:pt x="0" y="0"/>
                </a:moveTo>
                <a:lnTo>
                  <a:pt x="1963554" y="0"/>
                </a:lnTo>
                <a:lnTo>
                  <a:pt x="1963554" y="2072352"/>
                </a:lnTo>
                <a:lnTo>
                  <a:pt x="0" y="20723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9079277" y="4118717"/>
            <a:ext cx="794169" cy="871843"/>
          </a:xfrm>
          <a:custGeom>
            <a:avLst/>
            <a:gdLst/>
            <a:ahLst/>
            <a:cxnLst/>
            <a:rect r="r" b="b" t="t" l="l"/>
            <a:pathLst>
              <a:path h="871843" w="794169">
                <a:moveTo>
                  <a:pt x="0" y="0"/>
                </a:moveTo>
                <a:lnTo>
                  <a:pt x="794169" y="0"/>
                </a:lnTo>
                <a:lnTo>
                  <a:pt x="794169" y="871842"/>
                </a:lnTo>
                <a:lnTo>
                  <a:pt x="0" y="87184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2526625" y="3518462"/>
            <a:ext cx="1963554" cy="2072352"/>
          </a:xfrm>
          <a:custGeom>
            <a:avLst/>
            <a:gdLst/>
            <a:ahLst/>
            <a:cxnLst/>
            <a:rect r="r" b="b" t="t" l="l"/>
            <a:pathLst>
              <a:path h="2072352" w="1963554">
                <a:moveTo>
                  <a:pt x="0" y="0"/>
                </a:moveTo>
                <a:lnTo>
                  <a:pt x="1963553" y="0"/>
                </a:lnTo>
                <a:lnTo>
                  <a:pt x="1963553" y="2072352"/>
                </a:lnTo>
                <a:lnTo>
                  <a:pt x="0" y="20723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13127961" y="4118717"/>
            <a:ext cx="760881" cy="871843"/>
          </a:xfrm>
          <a:custGeom>
            <a:avLst/>
            <a:gdLst/>
            <a:ahLst/>
            <a:cxnLst/>
            <a:rect r="r" b="b" t="t" l="l"/>
            <a:pathLst>
              <a:path h="871843" w="760881">
                <a:moveTo>
                  <a:pt x="0" y="0"/>
                </a:moveTo>
                <a:lnTo>
                  <a:pt x="760881" y="0"/>
                </a:lnTo>
                <a:lnTo>
                  <a:pt x="760881" y="871842"/>
                </a:lnTo>
                <a:lnTo>
                  <a:pt x="0" y="871842"/>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7" id="7"/>
          <p:cNvSpPr txBox="true"/>
          <p:nvPr/>
        </p:nvSpPr>
        <p:spPr>
          <a:xfrm rot="0">
            <a:off x="2180466" y="433064"/>
            <a:ext cx="15453780" cy="1120775"/>
          </a:xfrm>
          <a:prstGeom prst="rect">
            <a:avLst/>
          </a:prstGeom>
        </p:spPr>
        <p:txBody>
          <a:bodyPr anchor="t" rtlCol="false" tIns="0" lIns="0" bIns="0" rIns="0">
            <a:spAutoFit/>
          </a:bodyPr>
          <a:lstStyle/>
          <a:p>
            <a:pPr algn="ctr">
              <a:lnSpc>
                <a:spcPts val="9100"/>
              </a:lnSpc>
            </a:pPr>
            <a:r>
              <a:rPr lang="en-US" sz="6500">
                <a:solidFill>
                  <a:srgbClr val="FFB3D0"/>
                </a:solidFill>
                <a:latin typeface="Carlsons Script"/>
                <a:ea typeface="Carlsons Script"/>
                <a:cs typeface="Carlsons Script"/>
                <a:sym typeface="Carlsons Script"/>
              </a:rPr>
              <a:t>Langkah - langkah Pra-pemrosesan</a:t>
            </a:r>
          </a:p>
        </p:txBody>
      </p:sp>
      <p:sp>
        <p:nvSpPr>
          <p:cNvPr name="Freeform 8" id="8"/>
          <p:cNvSpPr/>
          <p:nvPr/>
        </p:nvSpPr>
        <p:spPr>
          <a:xfrm flipH="false" flipV="false" rot="0">
            <a:off x="4462545" y="3518462"/>
            <a:ext cx="1963554" cy="2072352"/>
          </a:xfrm>
          <a:custGeom>
            <a:avLst/>
            <a:gdLst/>
            <a:ahLst/>
            <a:cxnLst/>
            <a:rect r="r" b="b" t="t" l="l"/>
            <a:pathLst>
              <a:path h="2072352" w="1963554">
                <a:moveTo>
                  <a:pt x="0" y="0"/>
                </a:moveTo>
                <a:lnTo>
                  <a:pt x="1963554" y="0"/>
                </a:lnTo>
                <a:lnTo>
                  <a:pt x="1963554" y="2072352"/>
                </a:lnTo>
                <a:lnTo>
                  <a:pt x="0" y="207235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5146310" y="4118717"/>
            <a:ext cx="596023" cy="871843"/>
          </a:xfrm>
          <a:custGeom>
            <a:avLst/>
            <a:gdLst/>
            <a:ahLst/>
            <a:cxnLst/>
            <a:rect r="r" b="b" t="t" l="l"/>
            <a:pathLst>
              <a:path h="871843" w="596023">
                <a:moveTo>
                  <a:pt x="0" y="0"/>
                </a:moveTo>
                <a:lnTo>
                  <a:pt x="596024" y="0"/>
                </a:lnTo>
                <a:lnTo>
                  <a:pt x="596024" y="871842"/>
                </a:lnTo>
                <a:lnTo>
                  <a:pt x="0" y="87184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true" flipV="false" rot="0">
            <a:off x="7170315" y="4059326"/>
            <a:ext cx="580054" cy="797325"/>
          </a:xfrm>
          <a:custGeom>
            <a:avLst/>
            <a:gdLst/>
            <a:ahLst/>
            <a:cxnLst/>
            <a:rect r="r" b="b" t="t" l="l"/>
            <a:pathLst>
              <a:path h="797325" w="580054">
                <a:moveTo>
                  <a:pt x="580054" y="0"/>
                </a:moveTo>
                <a:lnTo>
                  <a:pt x="0" y="0"/>
                </a:lnTo>
                <a:lnTo>
                  <a:pt x="0" y="797325"/>
                </a:lnTo>
                <a:lnTo>
                  <a:pt x="580054" y="797325"/>
                </a:lnTo>
                <a:lnTo>
                  <a:pt x="580054"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1" id="11"/>
          <p:cNvSpPr/>
          <p:nvPr/>
        </p:nvSpPr>
        <p:spPr>
          <a:xfrm flipH="true" flipV="false" rot="0">
            <a:off x="11203198" y="4059326"/>
            <a:ext cx="580054" cy="797325"/>
          </a:xfrm>
          <a:custGeom>
            <a:avLst/>
            <a:gdLst/>
            <a:ahLst/>
            <a:cxnLst/>
            <a:rect r="r" b="b" t="t" l="l"/>
            <a:pathLst>
              <a:path h="797325" w="580054">
                <a:moveTo>
                  <a:pt x="580055" y="0"/>
                </a:moveTo>
                <a:lnTo>
                  <a:pt x="0" y="0"/>
                </a:lnTo>
                <a:lnTo>
                  <a:pt x="0" y="797325"/>
                </a:lnTo>
                <a:lnTo>
                  <a:pt x="580055" y="797325"/>
                </a:lnTo>
                <a:lnTo>
                  <a:pt x="580055"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6950277">
            <a:off x="15878562" y="1274246"/>
            <a:ext cx="7749311" cy="5721735"/>
          </a:xfrm>
          <a:custGeom>
            <a:avLst/>
            <a:gdLst/>
            <a:ahLst/>
            <a:cxnLst/>
            <a:rect r="r" b="b" t="t" l="l"/>
            <a:pathLst>
              <a:path h="5721735" w="7749311">
                <a:moveTo>
                  <a:pt x="0" y="0"/>
                </a:moveTo>
                <a:lnTo>
                  <a:pt x="7749311" y="0"/>
                </a:lnTo>
                <a:lnTo>
                  <a:pt x="7749311" y="5721735"/>
                </a:lnTo>
                <a:lnTo>
                  <a:pt x="0" y="5721735"/>
                </a:lnTo>
                <a:lnTo>
                  <a:pt x="0" y="0"/>
                </a:lnTo>
                <a:close/>
              </a:path>
            </a:pathLst>
          </a:custGeom>
          <a:blipFill>
            <a:blip r:embed="rId13"/>
            <a:stretch>
              <a:fillRect l="0" t="0" r="0" b="0"/>
            </a:stretch>
          </a:blipFill>
        </p:spPr>
      </p:sp>
      <p:sp>
        <p:nvSpPr>
          <p:cNvPr name="Freeform 13" id="13"/>
          <p:cNvSpPr/>
          <p:nvPr/>
        </p:nvSpPr>
        <p:spPr>
          <a:xfrm flipH="false" flipV="true" rot="-4876219">
            <a:off x="-6741837" y="144810"/>
            <a:ext cx="9138303" cy="6747303"/>
          </a:xfrm>
          <a:custGeom>
            <a:avLst/>
            <a:gdLst/>
            <a:ahLst/>
            <a:cxnLst/>
            <a:rect r="r" b="b" t="t" l="l"/>
            <a:pathLst>
              <a:path h="6747303" w="9138303">
                <a:moveTo>
                  <a:pt x="0" y="6747304"/>
                </a:moveTo>
                <a:lnTo>
                  <a:pt x="9138303" y="6747304"/>
                </a:lnTo>
                <a:lnTo>
                  <a:pt x="9138303" y="0"/>
                </a:lnTo>
                <a:lnTo>
                  <a:pt x="0" y="0"/>
                </a:lnTo>
                <a:lnTo>
                  <a:pt x="0" y="6747304"/>
                </a:lnTo>
                <a:close/>
              </a:path>
            </a:pathLst>
          </a:custGeom>
          <a:blipFill>
            <a:blip r:embed="rId13"/>
            <a:stretch>
              <a:fillRect l="0" t="0" r="0" b="0"/>
            </a:stretch>
          </a:blipFill>
        </p:spPr>
      </p:sp>
      <p:sp>
        <p:nvSpPr>
          <p:cNvPr name="Freeform 14" id="14"/>
          <p:cNvSpPr/>
          <p:nvPr/>
        </p:nvSpPr>
        <p:spPr>
          <a:xfrm flipH="false" flipV="false" rot="0">
            <a:off x="4487698" y="1928080"/>
            <a:ext cx="814827" cy="814827"/>
          </a:xfrm>
          <a:custGeom>
            <a:avLst/>
            <a:gdLst/>
            <a:ahLst/>
            <a:cxnLst/>
            <a:rect r="r" b="b" t="t" l="l"/>
            <a:pathLst>
              <a:path h="814827" w="814827">
                <a:moveTo>
                  <a:pt x="0" y="0"/>
                </a:moveTo>
                <a:lnTo>
                  <a:pt x="814828" y="0"/>
                </a:lnTo>
                <a:lnTo>
                  <a:pt x="814828" y="814827"/>
                </a:lnTo>
                <a:lnTo>
                  <a:pt x="0" y="814827"/>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Freeform 15" id="15"/>
          <p:cNvSpPr/>
          <p:nvPr/>
        </p:nvSpPr>
        <p:spPr>
          <a:xfrm flipH="false" flipV="false" rot="0">
            <a:off x="14011913" y="1786377"/>
            <a:ext cx="956530" cy="956530"/>
          </a:xfrm>
          <a:custGeom>
            <a:avLst/>
            <a:gdLst/>
            <a:ahLst/>
            <a:cxnLst/>
            <a:rect r="r" b="b" t="t" l="l"/>
            <a:pathLst>
              <a:path h="956530" w="956530">
                <a:moveTo>
                  <a:pt x="0" y="0"/>
                </a:moveTo>
                <a:lnTo>
                  <a:pt x="956530" y="0"/>
                </a:lnTo>
                <a:lnTo>
                  <a:pt x="956530" y="956530"/>
                </a:lnTo>
                <a:lnTo>
                  <a:pt x="0" y="956530"/>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16" id="16"/>
          <p:cNvSpPr/>
          <p:nvPr/>
        </p:nvSpPr>
        <p:spPr>
          <a:xfrm flipH="false" flipV="false" rot="0">
            <a:off x="2180466" y="7389043"/>
            <a:ext cx="5265853" cy="1089122"/>
          </a:xfrm>
          <a:custGeom>
            <a:avLst/>
            <a:gdLst/>
            <a:ahLst/>
            <a:cxnLst/>
            <a:rect r="r" b="b" t="t" l="l"/>
            <a:pathLst>
              <a:path h="1089122" w="5265853">
                <a:moveTo>
                  <a:pt x="0" y="0"/>
                </a:moveTo>
                <a:lnTo>
                  <a:pt x="5265853" y="0"/>
                </a:lnTo>
                <a:lnTo>
                  <a:pt x="5265853" y="1089122"/>
                </a:lnTo>
                <a:lnTo>
                  <a:pt x="0" y="1089122"/>
                </a:lnTo>
                <a:lnTo>
                  <a:pt x="0" y="0"/>
                </a:lnTo>
                <a:close/>
              </a:path>
            </a:pathLst>
          </a:custGeom>
          <a:blipFill>
            <a:blip r:embed="rId18"/>
            <a:stretch>
              <a:fillRect l="0" t="0" r="0" b="0"/>
            </a:stretch>
          </a:blipFill>
        </p:spPr>
      </p:sp>
      <p:sp>
        <p:nvSpPr>
          <p:cNvPr name="Freeform 17" id="17"/>
          <p:cNvSpPr/>
          <p:nvPr/>
        </p:nvSpPr>
        <p:spPr>
          <a:xfrm flipH="false" flipV="false" rot="0">
            <a:off x="7750369" y="7389043"/>
            <a:ext cx="3819703" cy="875737"/>
          </a:xfrm>
          <a:custGeom>
            <a:avLst/>
            <a:gdLst/>
            <a:ahLst/>
            <a:cxnLst/>
            <a:rect r="r" b="b" t="t" l="l"/>
            <a:pathLst>
              <a:path h="875737" w="3819703">
                <a:moveTo>
                  <a:pt x="0" y="0"/>
                </a:moveTo>
                <a:lnTo>
                  <a:pt x="3819703" y="0"/>
                </a:lnTo>
                <a:lnTo>
                  <a:pt x="3819703" y="875737"/>
                </a:lnTo>
                <a:lnTo>
                  <a:pt x="0" y="875737"/>
                </a:lnTo>
                <a:lnTo>
                  <a:pt x="0" y="0"/>
                </a:lnTo>
                <a:close/>
              </a:path>
            </a:pathLst>
          </a:custGeom>
          <a:blipFill>
            <a:blip r:embed="rId19"/>
            <a:stretch>
              <a:fillRect l="0" t="0" r="0" b="0"/>
            </a:stretch>
          </a:blipFill>
        </p:spPr>
      </p:sp>
      <p:sp>
        <p:nvSpPr>
          <p:cNvPr name="Freeform 18" id="18"/>
          <p:cNvSpPr/>
          <p:nvPr/>
        </p:nvSpPr>
        <p:spPr>
          <a:xfrm flipH="false" flipV="false" rot="0">
            <a:off x="11922733" y="7365990"/>
            <a:ext cx="5251755" cy="898790"/>
          </a:xfrm>
          <a:custGeom>
            <a:avLst/>
            <a:gdLst/>
            <a:ahLst/>
            <a:cxnLst/>
            <a:rect r="r" b="b" t="t" l="l"/>
            <a:pathLst>
              <a:path h="898790" w="5251755">
                <a:moveTo>
                  <a:pt x="0" y="0"/>
                </a:moveTo>
                <a:lnTo>
                  <a:pt x="5251755" y="0"/>
                </a:lnTo>
                <a:lnTo>
                  <a:pt x="5251755" y="898790"/>
                </a:lnTo>
                <a:lnTo>
                  <a:pt x="0" y="898790"/>
                </a:lnTo>
                <a:lnTo>
                  <a:pt x="0" y="0"/>
                </a:lnTo>
                <a:close/>
              </a:path>
            </a:pathLst>
          </a:custGeom>
          <a:blipFill>
            <a:blip r:embed="rId20"/>
            <a:stretch>
              <a:fillRect l="0" t="0" r="0" b="0"/>
            </a:stretch>
          </a:blipFill>
        </p:spPr>
      </p:sp>
      <p:sp>
        <p:nvSpPr>
          <p:cNvPr name="TextBox 19" id="19"/>
          <p:cNvSpPr txBox="true"/>
          <p:nvPr/>
        </p:nvSpPr>
        <p:spPr>
          <a:xfrm rot="0">
            <a:off x="3291671" y="5828939"/>
            <a:ext cx="3709279" cy="1118870"/>
          </a:xfrm>
          <a:prstGeom prst="rect">
            <a:avLst/>
          </a:prstGeom>
        </p:spPr>
        <p:txBody>
          <a:bodyPr anchor="t" rtlCol="false" tIns="0" lIns="0" bIns="0" rIns="0">
            <a:spAutoFit/>
          </a:bodyPr>
          <a:lstStyle/>
          <a:p>
            <a:pPr algn="ctr">
              <a:lnSpc>
                <a:spcPts val="4480"/>
              </a:lnSpc>
            </a:pPr>
            <a:r>
              <a:rPr lang="en-US" sz="3200">
                <a:solidFill>
                  <a:srgbClr val="FFFFFF"/>
                </a:solidFill>
                <a:latin typeface="Roboto"/>
                <a:ea typeface="Roboto"/>
                <a:cs typeface="Roboto"/>
                <a:sym typeface="Roboto"/>
              </a:rPr>
              <a:t>Label Encoding untuk fitur kategori</a:t>
            </a:r>
          </a:p>
        </p:txBody>
      </p:sp>
      <p:sp>
        <p:nvSpPr>
          <p:cNvPr name="TextBox 20" id="20"/>
          <p:cNvSpPr txBox="true"/>
          <p:nvPr/>
        </p:nvSpPr>
        <p:spPr>
          <a:xfrm rot="0">
            <a:off x="7337829" y="5828939"/>
            <a:ext cx="4371095" cy="1118870"/>
          </a:xfrm>
          <a:prstGeom prst="rect">
            <a:avLst/>
          </a:prstGeom>
        </p:spPr>
        <p:txBody>
          <a:bodyPr anchor="t" rtlCol="false" tIns="0" lIns="0" bIns="0" rIns="0">
            <a:spAutoFit/>
          </a:bodyPr>
          <a:lstStyle/>
          <a:p>
            <a:pPr algn="ctr">
              <a:lnSpc>
                <a:spcPts val="4479"/>
              </a:lnSpc>
            </a:pPr>
            <a:r>
              <a:rPr lang="en-US" sz="3199">
                <a:solidFill>
                  <a:srgbClr val="FFFFFF"/>
                </a:solidFill>
                <a:latin typeface="Roboto"/>
                <a:ea typeface="Roboto"/>
                <a:cs typeface="Roboto"/>
                <a:sym typeface="Roboto"/>
              </a:rPr>
              <a:t>Standardisasi fitur numerik</a:t>
            </a:r>
          </a:p>
        </p:txBody>
      </p:sp>
      <p:sp>
        <p:nvSpPr>
          <p:cNvPr name="TextBox 21" id="21"/>
          <p:cNvSpPr txBox="true"/>
          <p:nvPr/>
        </p:nvSpPr>
        <p:spPr>
          <a:xfrm rot="0">
            <a:off x="11922733" y="5743214"/>
            <a:ext cx="3932219" cy="1118870"/>
          </a:xfrm>
          <a:prstGeom prst="rect">
            <a:avLst/>
          </a:prstGeom>
        </p:spPr>
        <p:txBody>
          <a:bodyPr anchor="t" rtlCol="false" tIns="0" lIns="0" bIns="0" rIns="0">
            <a:spAutoFit/>
          </a:bodyPr>
          <a:lstStyle/>
          <a:p>
            <a:pPr algn="ctr">
              <a:lnSpc>
                <a:spcPts val="4479"/>
              </a:lnSpc>
            </a:pPr>
            <a:r>
              <a:rPr lang="en-US" sz="3199">
                <a:solidFill>
                  <a:srgbClr val="FFFFFF"/>
                </a:solidFill>
                <a:latin typeface="Roboto"/>
                <a:ea typeface="Roboto"/>
                <a:cs typeface="Roboto"/>
                <a:sym typeface="Roboto"/>
              </a:rPr>
              <a:t>Pembagian data training dan testing</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878562" y="1274246"/>
            <a:ext cx="7749311" cy="5721735"/>
          </a:xfrm>
          <a:custGeom>
            <a:avLst/>
            <a:gdLst/>
            <a:ahLst/>
            <a:cxnLst/>
            <a:rect r="r" b="b" t="t" l="l"/>
            <a:pathLst>
              <a:path h="5721735" w="7749311">
                <a:moveTo>
                  <a:pt x="0" y="0"/>
                </a:moveTo>
                <a:lnTo>
                  <a:pt x="7749311" y="0"/>
                </a:lnTo>
                <a:lnTo>
                  <a:pt x="7749311" y="5721735"/>
                </a:lnTo>
                <a:lnTo>
                  <a:pt x="0" y="5721735"/>
                </a:lnTo>
                <a:lnTo>
                  <a:pt x="0" y="0"/>
                </a:lnTo>
                <a:close/>
              </a:path>
            </a:pathLst>
          </a:custGeom>
          <a:blipFill>
            <a:blip r:embed="rId3"/>
            <a:stretch>
              <a:fillRect l="0" t="0" r="0" b="0"/>
            </a:stretch>
          </a:blipFill>
        </p:spPr>
      </p:sp>
      <p:sp>
        <p:nvSpPr>
          <p:cNvPr name="Freeform 4" id="4"/>
          <p:cNvSpPr/>
          <p:nvPr/>
        </p:nvSpPr>
        <p:spPr>
          <a:xfrm flipH="false" flipV="true" rot="-4876219">
            <a:off x="-6741837" y="144810"/>
            <a:ext cx="9138303" cy="6747303"/>
          </a:xfrm>
          <a:custGeom>
            <a:avLst/>
            <a:gdLst/>
            <a:ahLst/>
            <a:cxnLst/>
            <a:rect r="r" b="b" t="t" l="l"/>
            <a:pathLst>
              <a:path h="6747303" w="9138303">
                <a:moveTo>
                  <a:pt x="0" y="6747304"/>
                </a:moveTo>
                <a:lnTo>
                  <a:pt x="9138303" y="6747304"/>
                </a:lnTo>
                <a:lnTo>
                  <a:pt x="9138303" y="0"/>
                </a:lnTo>
                <a:lnTo>
                  <a:pt x="0" y="0"/>
                </a:lnTo>
                <a:lnTo>
                  <a:pt x="0" y="6747304"/>
                </a:lnTo>
                <a:close/>
              </a:path>
            </a:pathLst>
          </a:custGeom>
          <a:blipFill>
            <a:blip r:embed="rId3"/>
            <a:stretch>
              <a:fillRect l="0" t="0" r="0" b="0"/>
            </a:stretch>
          </a:blipFill>
        </p:spPr>
      </p:sp>
      <p:sp>
        <p:nvSpPr>
          <p:cNvPr name="Freeform 5" id="5"/>
          <p:cNvSpPr/>
          <p:nvPr/>
        </p:nvSpPr>
        <p:spPr>
          <a:xfrm flipH="false" flipV="false" rot="0">
            <a:off x="10403741" y="5687797"/>
            <a:ext cx="8088418" cy="1142489"/>
          </a:xfrm>
          <a:custGeom>
            <a:avLst/>
            <a:gdLst/>
            <a:ahLst/>
            <a:cxnLst/>
            <a:rect r="r" b="b" t="t" l="l"/>
            <a:pathLst>
              <a:path h="1142489" w="8088418">
                <a:moveTo>
                  <a:pt x="0" y="0"/>
                </a:moveTo>
                <a:lnTo>
                  <a:pt x="8088417" y="0"/>
                </a:lnTo>
                <a:lnTo>
                  <a:pt x="8088417"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45315">
            <a:off x="16828447" y="1830762"/>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460336" y="2500474"/>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2161556" y="3951624"/>
            <a:ext cx="6185549" cy="4013867"/>
          </a:xfrm>
          <a:custGeom>
            <a:avLst/>
            <a:gdLst/>
            <a:ahLst/>
            <a:cxnLst/>
            <a:rect r="r" b="b" t="t" l="l"/>
            <a:pathLst>
              <a:path h="4013867" w="6185549">
                <a:moveTo>
                  <a:pt x="0" y="0"/>
                </a:moveTo>
                <a:lnTo>
                  <a:pt x="6185548" y="0"/>
                </a:lnTo>
                <a:lnTo>
                  <a:pt x="6185548" y="4013867"/>
                </a:lnTo>
                <a:lnTo>
                  <a:pt x="0" y="4013867"/>
                </a:lnTo>
                <a:lnTo>
                  <a:pt x="0" y="0"/>
                </a:lnTo>
                <a:close/>
              </a:path>
            </a:pathLst>
          </a:custGeom>
          <a:blipFill>
            <a:blip r:embed="rId11"/>
            <a:stretch>
              <a:fillRect l="0" t="0" r="0" b="0"/>
            </a:stretch>
          </a:blipFill>
        </p:spPr>
      </p:sp>
      <p:sp>
        <p:nvSpPr>
          <p:cNvPr name="TextBox 10" id="10"/>
          <p:cNvSpPr txBox="true"/>
          <p:nvPr/>
        </p:nvSpPr>
        <p:spPr>
          <a:xfrm rot="0">
            <a:off x="11775610" y="2890540"/>
            <a:ext cx="4134984" cy="1288234"/>
          </a:xfrm>
          <a:prstGeom prst="rect">
            <a:avLst/>
          </a:prstGeom>
        </p:spPr>
        <p:txBody>
          <a:bodyPr anchor="t" rtlCol="false" tIns="0" lIns="0" bIns="0" rIns="0">
            <a:spAutoFit/>
          </a:bodyPr>
          <a:lstStyle/>
          <a:p>
            <a:pPr algn="l">
              <a:lnSpc>
                <a:spcPts val="5119"/>
              </a:lnSpc>
            </a:pPr>
            <a:r>
              <a:rPr lang="en-US" sz="3657" i="true" b="true">
                <a:solidFill>
                  <a:srgbClr val="FFFFFF"/>
                </a:solidFill>
                <a:latin typeface="Roboto Bold Italics"/>
                <a:ea typeface="Roboto Bold Italics"/>
                <a:cs typeface="Roboto Bold Italics"/>
                <a:sym typeface="Roboto Bold Italics"/>
              </a:rPr>
              <a:t>Logistic Regression</a:t>
            </a:r>
          </a:p>
          <a:p>
            <a:pPr algn="l">
              <a:lnSpc>
                <a:spcPts val="5119"/>
              </a:lnSpc>
            </a:pPr>
          </a:p>
        </p:txBody>
      </p:sp>
      <p:sp>
        <p:nvSpPr>
          <p:cNvPr name="TextBox 11" id="11"/>
          <p:cNvSpPr txBox="true"/>
          <p:nvPr/>
        </p:nvSpPr>
        <p:spPr>
          <a:xfrm rot="0">
            <a:off x="3071755" y="2846880"/>
            <a:ext cx="6423263" cy="1288234"/>
          </a:xfrm>
          <a:prstGeom prst="rect">
            <a:avLst/>
          </a:prstGeom>
        </p:spPr>
        <p:txBody>
          <a:bodyPr anchor="t" rtlCol="false" tIns="0" lIns="0" bIns="0" rIns="0">
            <a:spAutoFit/>
          </a:bodyPr>
          <a:lstStyle/>
          <a:p>
            <a:pPr algn="l">
              <a:lnSpc>
                <a:spcPts val="5119"/>
              </a:lnSpc>
            </a:pPr>
            <a:r>
              <a:rPr lang="en-US" sz="3657" i="true" b="true">
                <a:solidFill>
                  <a:srgbClr val="FFFFFF"/>
                </a:solidFill>
                <a:latin typeface="Roboto Bold Italics"/>
                <a:ea typeface="Roboto Bold Italics"/>
                <a:cs typeface="Roboto Bold Italics"/>
                <a:sym typeface="Roboto Bold Italics"/>
              </a:rPr>
              <a:t>K-Nearest Neighbors (KNN)</a:t>
            </a:r>
          </a:p>
          <a:p>
            <a:pPr algn="l">
              <a:lnSpc>
                <a:spcPts val="5119"/>
              </a:lnSpc>
            </a:pPr>
          </a:p>
        </p:txBody>
      </p:sp>
      <p:sp>
        <p:nvSpPr>
          <p:cNvPr name="Freeform 12" id="12"/>
          <p:cNvSpPr/>
          <p:nvPr/>
        </p:nvSpPr>
        <p:spPr>
          <a:xfrm flipH="false" flipV="false" rot="5400000">
            <a:off x="4763470" y="6818966"/>
            <a:ext cx="10337744" cy="1142489"/>
          </a:xfrm>
          <a:custGeom>
            <a:avLst/>
            <a:gdLst/>
            <a:ahLst/>
            <a:cxnLst/>
            <a:rect r="r" b="b" t="t" l="l"/>
            <a:pathLst>
              <a:path h="1142489" w="10337744">
                <a:moveTo>
                  <a:pt x="0" y="0"/>
                </a:moveTo>
                <a:lnTo>
                  <a:pt x="10337744" y="0"/>
                </a:lnTo>
                <a:lnTo>
                  <a:pt x="10337744" y="1142489"/>
                </a:lnTo>
                <a:lnTo>
                  <a:pt x="0" y="1142489"/>
                </a:lnTo>
                <a:lnTo>
                  <a:pt x="0" y="0"/>
                </a:lnTo>
                <a:close/>
              </a:path>
            </a:pathLst>
          </a:custGeom>
          <a:blipFill>
            <a:blip r:embed="rId4"/>
            <a:stretch>
              <a:fillRect l="0" t="-13904" r="0" b="-13904"/>
            </a:stretch>
          </a:blipFill>
        </p:spPr>
      </p:sp>
      <p:sp>
        <p:nvSpPr>
          <p:cNvPr name="Freeform 13" id="13"/>
          <p:cNvSpPr/>
          <p:nvPr/>
        </p:nvSpPr>
        <p:spPr>
          <a:xfrm flipH="false" flipV="false" rot="0">
            <a:off x="9975033" y="2776333"/>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4" id="14"/>
          <p:cNvSpPr txBox="true"/>
          <p:nvPr/>
        </p:nvSpPr>
        <p:spPr>
          <a:xfrm rot="0">
            <a:off x="3768134" y="479441"/>
            <a:ext cx="12328415" cy="1741898"/>
          </a:xfrm>
          <a:prstGeom prst="rect">
            <a:avLst/>
          </a:prstGeom>
        </p:spPr>
        <p:txBody>
          <a:bodyPr anchor="t" rtlCol="false" tIns="0" lIns="0" bIns="0" rIns="0">
            <a:spAutoFit/>
          </a:bodyPr>
          <a:lstStyle/>
          <a:p>
            <a:pPr algn="ctr">
              <a:lnSpc>
                <a:spcPts val="14239"/>
              </a:lnSpc>
            </a:pPr>
            <a:r>
              <a:rPr lang="en-US" sz="10171">
                <a:solidFill>
                  <a:srgbClr val="FFB3D0"/>
                </a:solidFill>
                <a:latin typeface="Carlsons Script"/>
                <a:ea typeface="Carlsons Script"/>
                <a:cs typeface="Carlsons Script"/>
                <a:sym typeface="Carlsons Script"/>
              </a:rPr>
              <a:t>Implementasi Model</a:t>
            </a:r>
          </a:p>
        </p:txBody>
      </p:sp>
      <p:sp>
        <p:nvSpPr>
          <p:cNvPr name="Freeform 15" id="15"/>
          <p:cNvSpPr/>
          <p:nvPr/>
        </p:nvSpPr>
        <p:spPr>
          <a:xfrm flipH="false" flipV="false" rot="0">
            <a:off x="11196994" y="6585121"/>
            <a:ext cx="5531688" cy="3509047"/>
          </a:xfrm>
          <a:custGeom>
            <a:avLst/>
            <a:gdLst/>
            <a:ahLst/>
            <a:cxnLst/>
            <a:rect r="r" b="b" t="t" l="l"/>
            <a:pathLst>
              <a:path h="3509047" w="5531688">
                <a:moveTo>
                  <a:pt x="0" y="0"/>
                </a:moveTo>
                <a:lnTo>
                  <a:pt x="5531688" y="0"/>
                </a:lnTo>
                <a:lnTo>
                  <a:pt x="5531688" y="3509047"/>
                </a:lnTo>
                <a:lnTo>
                  <a:pt x="0" y="3509047"/>
                </a:lnTo>
                <a:lnTo>
                  <a:pt x="0" y="0"/>
                </a:lnTo>
                <a:close/>
              </a:path>
            </a:pathLst>
          </a:custGeom>
          <a:blipFill>
            <a:blip r:embed="rId12"/>
            <a:stretch>
              <a:fillRect l="0" t="0" r="0" b="0"/>
            </a:stretch>
          </a:blipFill>
        </p:spPr>
      </p:sp>
      <p:sp>
        <p:nvSpPr>
          <p:cNvPr name="Freeform 16" id="16"/>
          <p:cNvSpPr/>
          <p:nvPr/>
        </p:nvSpPr>
        <p:spPr>
          <a:xfrm flipH="false" flipV="false" rot="0">
            <a:off x="1855356" y="8339644"/>
            <a:ext cx="7161965" cy="1336343"/>
          </a:xfrm>
          <a:custGeom>
            <a:avLst/>
            <a:gdLst/>
            <a:ahLst/>
            <a:cxnLst/>
            <a:rect r="r" b="b" t="t" l="l"/>
            <a:pathLst>
              <a:path h="1336343" w="7161965">
                <a:moveTo>
                  <a:pt x="0" y="0"/>
                </a:moveTo>
                <a:lnTo>
                  <a:pt x="7161965" y="0"/>
                </a:lnTo>
                <a:lnTo>
                  <a:pt x="7161965" y="1336344"/>
                </a:lnTo>
                <a:lnTo>
                  <a:pt x="0" y="1336344"/>
                </a:lnTo>
                <a:lnTo>
                  <a:pt x="0" y="0"/>
                </a:lnTo>
                <a:close/>
              </a:path>
            </a:pathLst>
          </a:custGeom>
          <a:blipFill>
            <a:blip r:embed="rId13"/>
            <a:stretch>
              <a:fillRect l="0" t="0" r="0" b="0"/>
            </a:stretch>
          </a:blipFill>
        </p:spPr>
      </p:sp>
      <p:sp>
        <p:nvSpPr>
          <p:cNvPr name="Freeform 17" id="17"/>
          <p:cNvSpPr/>
          <p:nvPr/>
        </p:nvSpPr>
        <p:spPr>
          <a:xfrm flipH="false" flipV="false" rot="0">
            <a:off x="10808386" y="4254973"/>
            <a:ext cx="6624050" cy="1247786"/>
          </a:xfrm>
          <a:custGeom>
            <a:avLst/>
            <a:gdLst/>
            <a:ahLst/>
            <a:cxnLst/>
            <a:rect r="r" b="b" t="t" l="l"/>
            <a:pathLst>
              <a:path h="1247786" w="6624050">
                <a:moveTo>
                  <a:pt x="0" y="0"/>
                </a:moveTo>
                <a:lnTo>
                  <a:pt x="6624051" y="0"/>
                </a:lnTo>
                <a:lnTo>
                  <a:pt x="6624051" y="1247786"/>
                </a:lnTo>
                <a:lnTo>
                  <a:pt x="0" y="1247786"/>
                </a:lnTo>
                <a:lnTo>
                  <a:pt x="0" y="0"/>
                </a:lnTo>
                <a:close/>
              </a:path>
            </a:pathLst>
          </a:custGeom>
          <a:blipFill>
            <a:blip r:embed="rId14"/>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878562" y="1274246"/>
            <a:ext cx="7749311" cy="5721735"/>
          </a:xfrm>
          <a:custGeom>
            <a:avLst/>
            <a:gdLst/>
            <a:ahLst/>
            <a:cxnLst/>
            <a:rect r="r" b="b" t="t" l="l"/>
            <a:pathLst>
              <a:path h="5721735" w="7749311">
                <a:moveTo>
                  <a:pt x="0" y="0"/>
                </a:moveTo>
                <a:lnTo>
                  <a:pt x="7749311" y="0"/>
                </a:lnTo>
                <a:lnTo>
                  <a:pt x="7749311" y="5721735"/>
                </a:lnTo>
                <a:lnTo>
                  <a:pt x="0" y="5721735"/>
                </a:lnTo>
                <a:lnTo>
                  <a:pt x="0" y="0"/>
                </a:lnTo>
                <a:close/>
              </a:path>
            </a:pathLst>
          </a:custGeom>
          <a:blipFill>
            <a:blip r:embed="rId3"/>
            <a:stretch>
              <a:fillRect l="0" t="0" r="0" b="0"/>
            </a:stretch>
          </a:blipFill>
        </p:spPr>
      </p:sp>
      <p:sp>
        <p:nvSpPr>
          <p:cNvPr name="Freeform 4" id="4"/>
          <p:cNvSpPr/>
          <p:nvPr/>
        </p:nvSpPr>
        <p:spPr>
          <a:xfrm flipH="false" flipV="true" rot="-4876219">
            <a:off x="-6741837" y="144810"/>
            <a:ext cx="9138303" cy="6747303"/>
          </a:xfrm>
          <a:custGeom>
            <a:avLst/>
            <a:gdLst/>
            <a:ahLst/>
            <a:cxnLst/>
            <a:rect r="r" b="b" t="t" l="l"/>
            <a:pathLst>
              <a:path h="6747303" w="9138303">
                <a:moveTo>
                  <a:pt x="0" y="6747304"/>
                </a:moveTo>
                <a:lnTo>
                  <a:pt x="9138303" y="6747304"/>
                </a:lnTo>
                <a:lnTo>
                  <a:pt x="9138303" y="0"/>
                </a:lnTo>
                <a:lnTo>
                  <a:pt x="0" y="0"/>
                </a:lnTo>
                <a:lnTo>
                  <a:pt x="0" y="6747304"/>
                </a:lnTo>
                <a:close/>
              </a:path>
            </a:pathLst>
          </a:custGeom>
          <a:blipFill>
            <a:blip r:embed="rId3"/>
            <a:stretch>
              <a:fillRect l="0" t="0" r="0" b="0"/>
            </a:stretch>
          </a:blipFill>
        </p:spPr>
      </p:sp>
      <p:sp>
        <p:nvSpPr>
          <p:cNvPr name="Freeform 5" id="5"/>
          <p:cNvSpPr/>
          <p:nvPr/>
        </p:nvSpPr>
        <p:spPr>
          <a:xfrm flipH="false" flipV="false" rot="-1570849">
            <a:off x="13215091" y="8556008"/>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45315">
            <a:off x="16828447" y="1830762"/>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460336" y="2500474"/>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154136" y="6406471"/>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1460336" y="4358294"/>
            <a:ext cx="6576797" cy="1329503"/>
          </a:xfrm>
          <a:custGeom>
            <a:avLst/>
            <a:gdLst/>
            <a:ahLst/>
            <a:cxnLst/>
            <a:rect r="r" b="b" t="t" l="l"/>
            <a:pathLst>
              <a:path h="1329503" w="6576797">
                <a:moveTo>
                  <a:pt x="0" y="0"/>
                </a:moveTo>
                <a:lnTo>
                  <a:pt x="6576797" y="0"/>
                </a:lnTo>
                <a:lnTo>
                  <a:pt x="6576797" y="1329503"/>
                </a:lnTo>
                <a:lnTo>
                  <a:pt x="0" y="1329503"/>
                </a:lnTo>
                <a:lnTo>
                  <a:pt x="0" y="0"/>
                </a:lnTo>
                <a:close/>
              </a:path>
            </a:pathLst>
          </a:custGeom>
          <a:blipFill>
            <a:blip r:embed="rId11"/>
            <a:stretch>
              <a:fillRect l="0" t="0" r="0" b="0"/>
            </a:stretch>
          </a:blipFill>
        </p:spPr>
      </p:sp>
      <p:sp>
        <p:nvSpPr>
          <p:cNvPr name="Freeform 11" id="11"/>
          <p:cNvSpPr/>
          <p:nvPr/>
        </p:nvSpPr>
        <p:spPr>
          <a:xfrm flipH="false" flipV="false" rot="0">
            <a:off x="1526838" y="8189911"/>
            <a:ext cx="7224818" cy="1420112"/>
          </a:xfrm>
          <a:custGeom>
            <a:avLst/>
            <a:gdLst/>
            <a:ahLst/>
            <a:cxnLst/>
            <a:rect r="r" b="b" t="t" l="l"/>
            <a:pathLst>
              <a:path h="1420112" w="7224818">
                <a:moveTo>
                  <a:pt x="0" y="0"/>
                </a:moveTo>
                <a:lnTo>
                  <a:pt x="7224818" y="0"/>
                </a:lnTo>
                <a:lnTo>
                  <a:pt x="7224818" y="1420112"/>
                </a:lnTo>
                <a:lnTo>
                  <a:pt x="0" y="1420112"/>
                </a:lnTo>
                <a:lnTo>
                  <a:pt x="0" y="0"/>
                </a:lnTo>
                <a:close/>
              </a:path>
            </a:pathLst>
          </a:custGeom>
          <a:blipFill>
            <a:blip r:embed="rId12"/>
            <a:stretch>
              <a:fillRect l="0" t="0" r="0" b="0"/>
            </a:stretch>
          </a:blipFill>
        </p:spPr>
      </p:sp>
      <p:sp>
        <p:nvSpPr>
          <p:cNvPr name="Freeform 12" id="12"/>
          <p:cNvSpPr/>
          <p:nvPr/>
        </p:nvSpPr>
        <p:spPr>
          <a:xfrm flipH="false" flipV="false" rot="0">
            <a:off x="9304252" y="4468488"/>
            <a:ext cx="8697271" cy="2098595"/>
          </a:xfrm>
          <a:custGeom>
            <a:avLst/>
            <a:gdLst/>
            <a:ahLst/>
            <a:cxnLst/>
            <a:rect r="r" b="b" t="t" l="l"/>
            <a:pathLst>
              <a:path h="2098595" w="8697271">
                <a:moveTo>
                  <a:pt x="0" y="0"/>
                </a:moveTo>
                <a:lnTo>
                  <a:pt x="8697271" y="0"/>
                </a:lnTo>
                <a:lnTo>
                  <a:pt x="8697271" y="2098595"/>
                </a:lnTo>
                <a:lnTo>
                  <a:pt x="0" y="2098595"/>
                </a:lnTo>
                <a:lnTo>
                  <a:pt x="0" y="0"/>
                </a:lnTo>
                <a:close/>
              </a:path>
            </a:pathLst>
          </a:custGeom>
          <a:blipFill>
            <a:blip r:embed="rId13"/>
            <a:stretch>
              <a:fillRect l="0" t="0" r="0" b="0"/>
            </a:stretch>
          </a:blipFill>
        </p:spPr>
      </p:sp>
      <p:sp>
        <p:nvSpPr>
          <p:cNvPr name="TextBox 13" id="13"/>
          <p:cNvSpPr txBox="true"/>
          <p:nvPr/>
        </p:nvSpPr>
        <p:spPr>
          <a:xfrm rot="0">
            <a:off x="11578260" y="3323130"/>
            <a:ext cx="6423263" cy="640534"/>
          </a:xfrm>
          <a:prstGeom prst="rect">
            <a:avLst/>
          </a:prstGeom>
        </p:spPr>
        <p:txBody>
          <a:bodyPr anchor="t" rtlCol="false" tIns="0" lIns="0" bIns="0" rIns="0">
            <a:spAutoFit/>
          </a:bodyPr>
          <a:lstStyle/>
          <a:p>
            <a:pPr algn="l">
              <a:lnSpc>
                <a:spcPts val="5119"/>
              </a:lnSpc>
            </a:pPr>
            <a:r>
              <a:rPr lang="en-US" sz="3657" i="true" b="true">
                <a:solidFill>
                  <a:srgbClr val="FFFFFF"/>
                </a:solidFill>
                <a:latin typeface="Roboto Bold Italics"/>
                <a:ea typeface="Roboto Bold Italics"/>
                <a:cs typeface="Roboto Bold Italics"/>
                <a:sym typeface="Roboto Bold Italics"/>
              </a:rPr>
              <a:t>Evaluasi Model</a:t>
            </a:r>
          </a:p>
        </p:txBody>
      </p:sp>
      <p:sp>
        <p:nvSpPr>
          <p:cNvPr name="TextBox 14" id="14"/>
          <p:cNvSpPr txBox="true"/>
          <p:nvPr/>
        </p:nvSpPr>
        <p:spPr>
          <a:xfrm rot="0">
            <a:off x="3071755" y="6744561"/>
            <a:ext cx="4134984" cy="640534"/>
          </a:xfrm>
          <a:prstGeom prst="rect">
            <a:avLst/>
          </a:prstGeom>
        </p:spPr>
        <p:txBody>
          <a:bodyPr anchor="t" rtlCol="false" tIns="0" lIns="0" bIns="0" rIns="0">
            <a:spAutoFit/>
          </a:bodyPr>
          <a:lstStyle/>
          <a:p>
            <a:pPr algn="l">
              <a:lnSpc>
                <a:spcPts val="5119"/>
              </a:lnSpc>
            </a:pPr>
            <a:r>
              <a:rPr lang="en-US" sz="3657" i="true" b="true">
                <a:solidFill>
                  <a:srgbClr val="FFFFFF"/>
                </a:solidFill>
                <a:latin typeface="Roboto Bold Italics"/>
                <a:ea typeface="Roboto Bold Italics"/>
                <a:cs typeface="Roboto Bold Italics"/>
                <a:sym typeface="Roboto Bold Italics"/>
              </a:rPr>
              <a:t>Decision Tree</a:t>
            </a:r>
          </a:p>
        </p:txBody>
      </p:sp>
      <p:sp>
        <p:nvSpPr>
          <p:cNvPr name="TextBox 15" id="15"/>
          <p:cNvSpPr txBox="true"/>
          <p:nvPr/>
        </p:nvSpPr>
        <p:spPr>
          <a:xfrm rot="0">
            <a:off x="3768134" y="479441"/>
            <a:ext cx="12328415" cy="1741898"/>
          </a:xfrm>
          <a:prstGeom prst="rect">
            <a:avLst/>
          </a:prstGeom>
        </p:spPr>
        <p:txBody>
          <a:bodyPr anchor="t" rtlCol="false" tIns="0" lIns="0" bIns="0" rIns="0">
            <a:spAutoFit/>
          </a:bodyPr>
          <a:lstStyle/>
          <a:p>
            <a:pPr algn="ctr">
              <a:lnSpc>
                <a:spcPts val="14239"/>
              </a:lnSpc>
            </a:pPr>
            <a:r>
              <a:rPr lang="en-US" sz="10171">
                <a:solidFill>
                  <a:srgbClr val="FFB3D0"/>
                </a:solidFill>
                <a:latin typeface="Carlsons Script"/>
                <a:ea typeface="Carlsons Script"/>
                <a:cs typeface="Carlsons Script"/>
                <a:sym typeface="Carlsons Script"/>
              </a:rPr>
              <a:t>Implementasi Model</a:t>
            </a:r>
          </a:p>
        </p:txBody>
      </p:sp>
      <p:sp>
        <p:nvSpPr>
          <p:cNvPr name="TextBox 16" id="16"/>
          <p:cNvSpPr txBox="true"/>
          <p:nvPr/>
        </p:nvSpPr>
        <p:spPr>
          <a:xfrm rot="0">
            <a:off x="3224155" y="2999280"/>
            <a:ext cx="6423263" cy="1288234"/>
          </a:xfrm>
          <a:prstGeom prst="rect">
            <a:avLst/>
          </a:prstGeom>
        </p:spPr>
        <p:txBody>
          <a:bodyPr anchor="t" rtlCol="false" tIns="0" lIns="0" bIns="0" rIns="0">
            <a:spAutoFit/>
          </a:bodyPr>
          <a:lstStyle/>
          <a:p>
            <a:pPr algn="l">
              <a:lnSpc>
                <a:spcPts val="5119"/>
              </a:lnSpc>
            </a:pPr>
            <a:r>
              <a:rPr lang="en-US" sz="3657" i="true" b="true">
                <a:solidFill>
                  <a:srgbClr val="FFFFFF"/>
                </a:solidFill>
                <a:latin typeface="Roboto Bold Italics"/>
                <a:ea typeface="Roboto Bold Italics"/>
                <a:cs typeface="Roboto Bold Italics"/>
                <a:sym typeface="Roboto Bold Italics"/>
              </a:rPr>
              <a:t>Naïve Bayes</a:t>
            </a:r>
          </a:p>
          <a:p>
            <a:pPr algn="l">
              <a:lnSpc>
                <a:spcPts val="5119"/>
              </a:lnSpc>
            </a:pP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TextBox 3" id="3"/>
          <p:cNvSpPr txBox="true"/>
          <p:nvPr/>
        </p:nvSpPr>
        <p:spPr>
          <a:xfrm rot="0">
            <a:off x="3239787" y="447675"/>
            <a:ext cx="13218510" cy="1038225"/>
          </a:xfrm>
          <a:prstGeom prst="rect">
            <a:avLst/>
          </a:prstGeom>
        </p:spPr>
        <p:txBody>
          <a:bodyPr anchor="t" rtlCol="false" tIns="0" lIns="0" bIns="0" rIns="0">
            <a:spAutoFit/>
          </a:bodyPr>
          <a:lstStyle/>
          <a:p>
            <a:pPr algn="ctr">
              <a:lnSpc>
                <a:spcPts val="8400"/>
              </a:lnSpc>
            </a:pPr>
            <a:r>
              <a:rPr lang="en-US" sz="6000">
                <a:solidFill>
                  <a:srgbClr val="FFB3D0"/>
                </a:solidFill>
                <a:latin typeface="Carlsons Script"/>
                <a:ea typeface="Carlsons Script"/>
                <a:cs typeface="Carlsons Script"/>
                <a:sym typeface="Carlsons Script"/>
              </a:rPr>
              <a:t>Visualisasi Perbandingan Metrik</a:t>
            </a:r>
          </a:p>
        </p:txBody>
      </p:sp>
      <p:sp>
        <p:nvSpPr>
          <p:cNvPr name="Freeform 4" id="4"/>
          <p:cNvSpPr/>
          <p:nvPr/>
        </p:nvSpPr>
        <p:spPr>
          <a:xfrm flipH="false" flipV="false" rot="-133981">
            <a:off x="2725019" y="5387543"/>
            <a:ext cx="13271296" cy="9798915"/>
          </a:xfrm>
          <a:custGeom>
            <a:avLst/>
            <a:gdLst/>
            <a:ahLst/>
            <a:cxnLst/>
            <a:rect r="r" b="b" t="t" l="l"/>
            <a:pathLst>
              <a:path h="9798915" w="13271296">
                <a:moveTo>
                  <a:pt x="0" y="0"/>
                </a:moveTo>
                <a:lnTo>
                  <a:pt x="13271296" y="0"/>
                </a:lnTo>
                <a:lnTo>
                  <a:pt x="13271296" y="9798914"/>
                </a:lnTo>
                <a:lnTo>
                  <a:pt x="0" y="9798914"/>
                </a:lnTo>
                <a:lnTo>
                  <a:pt x="0" y="0"/>
                </a:lnTo>
                <a:close/>
              </a:path>
            </a:pathLst>
          </a:custGeom>
          <a:blipFill>
            <a:blip r:embed="rId3"/>
            <a:stretch>
              <a:fillRect l="0" t="0" r="0" b="0"/>
            </a:stretch>
          </a:blipFill>
        </p:spPr>
      </p:sp>
      <p:sp>
        <p:nvSpPr>
          <p:cNvPr name="Freeform 5" id="5"/>
          <p:cNvSpPr/>
          <p:nvPr/>
        </p:nvSpPr>
        <p:spPr>
          <a:xfrm flipH="false" flipV="false" rot="1493894">
            <a:off x="16068253" y="1002770"/>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7266737">
            <a:off x="-2445173" y="1821399"/>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7" id="7"/>
          <p:cNvSpPr/>
          <p:nvPr/>
        </p:nvSpPr>
        <p:spPr>
          <a:xfrm flipH="false" flipV="false" rot="-1094109">
            <a:off x="850456" y="6857761"/>
            <a:ext cx="1497161" cy="1464496"/>
          </a:xfrm>
          <a:custGeom>
            <a:avLst/>
            <a:gdLst/>
            <a:ahLst/>
            <a:cxnLst/>
            <a:rect r="r" b="b" t="t" l="l"/>
            <a:pathLst>
              <a:path h="1464496" w="1497161">
                <a:moveTo>
                  <a:pt x="0" y="0"/>
                </a:moveTo>
                <a:lnTo>
                  <a:pt x="1497161" y="0"/>
                </a:lnTo>
                <a:lnTo>
                  <a:pt x="1497161" y="1464496"/>
                </a:lnTo>
                <a:lnTo>
                  <a:pt x="0" y="146449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1186382">
            <a:off x="15910984" y="3468936"/>
            <a:ext cx="1497161" cy="1464496"/>
          </a:xfrm>
          <a:custGeom>
            <a:avLst/>
            <a:gdLst/>
            <a:ahLst/>
            <a:cxnLst/>
            <a:rect r="r" b="b" t="t" l="l"/>
            <a:pathLst>
              <a:path h="1464496" w="1497161">
                <a:moveTo>
                  <a:pt x="0" y="0"/>
                </a:moveTo>
                <a:lnTo>
                  <a:pt x="1497161" y="0"/>
                </a:lnTo>
                <a:lnTo>
                  <a:pt x="1497161" y="1464496"/>
                </a:lnTo>
                <a:lnTo>
                  <a:pt x="0" y="146449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4416635" y="1827307"/>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3623995">
            <a:off x="12705568" y="8596146"/>
            <a:ext cx="6003673" cy="1065652"/>
          </a:xfrm>
          <a:custGeom>
            <a:avLst/>
            <a:gdLst/>
            <a:ahLst/>
            <a:cxnLst/>
            <a:rect r="r" b="b" t="t" l="l"/>
            <a:pathLst>
              <a:path h="1065652" w="6003673">
                <a:moveTo>
                  <a:pt x="0" y="0"/>
                </a:moveTo>
                <a:lnTo>
                  <a:pt x="6003673" y="0"/>
                </a:lnTo>
                <a:lnTo>
                  <a:pt x="6003673" y="1065652"/>
                </a:lnTo>
                <a:lnTo>
                  <a:pt x="0" y="1065652"/>
                </a:lnTo>
                <a:lnTo>
                  <a:pt x="0" y="0"/>
                </a:lnTo>
                <a:close/>
              </a:path>
            </a:pathLst>
          </a:custGeom>
          <a:blipFill>
            <a:blip r:embed="rId11"/>
            <a:stretch>
              <a:fillRect l="0" t="0" r="0" b="0"/>
            </a:stretch>
          </a:blipFill>
        </p:spPr>
      </p:sp>
      <p:sp>
        <p:nvSpPr>
          <p:cNvPr name="Freeform 11" id="11"/>
          <p:cNvSpPr/>
          <p:nvPr/>
        </p:nvSpPr>
        <p:spPr>
          <a:xfrm flipH="false" flipV="false" rot="0">
            <a:off x="4759057" y="1791979"/>
            <a:ext cx="8769886" cy="5798031"/>
          </a:xfrm>
          <a:custGeom>
            <a:avLst/>
            <a:gdLst/>
            <a:ahLst/>
            <a:cxnLst/>
            <a:rect r="r" b="b" t="t" l="l"/>
            <a:pathLst>
              <a:path h="5798031" w="8769886">
                <a:moveTo>
                  <a:pt x="0" y="0"/>
                </a:moveTo>
                <a:lnTo>
                  <a:pt x="8769886" y="0"/>
                </a:lnTo>
                <a:lnTo>
                  <a:pt x="8769886" y="5798030"/>
                </a:lnTo>
                <a:lnTo>
                  <a:pt x="0" y="5798030"/>
                </a:lnTo>
                <a:lnTo>
                  <a:pt x="0" y="0"/>
                </a:lnTo>
                <a:close/>
              </a:path>
            </a:pathLst>
          </a:custGeom>
          <a:blipFill>
            <a:blip r:embed="rId12"/>
            <a:stretch>
              <a:fillRect l="0" t="0" r="0" b="0"/>
            </a:stretch>
          </a:blipFill>
        </p:spPr>
      </p:sp>
      <p:sp>
        <p:nvSpPr>
          <p:cNvPr name="TextBox 12" id="12"/>
          <p:cNvSpPr txBox="true"/>
          <p:nvPr/>
        </p:nvSpPr>
        <p:spPr>
          <a:xfrm rot="0">
            <a:off x="3770704" y="8100878"/>
            <a:ext cx="11179926" cy="1553845"/>
          </a:xfrm>
          <a:prstGeom prst="rect">
            <a:avLst/>
          </a:prstGeom>
        </p:spPr>
        <p:txBody>
          <a:bodyPr anchor="t" rtlCol="false" tIns="0" lIns="0" bIns="0" rIns="0">
            <a:spAutoFit/>
          </a:bodyPr>
          <a:lstStyle/>
          <a:p>
            <a:pPr algn="ctr">
              <a:lnSpc>
                <a:spcPts val="3079"/>
              </a:lnSpc>
              <a:spcBef>
                <a:spcPct val="0"/>
              </a:spcBef>
            </a:pPr>
            <a:r>
              <a:rPr lang="en-US" b="true" sz="2199" i="true">
                <a:solidFill>
                  <a:srgbClr val="435E8A"/>
                </a:solidFill>
                <a:latin typeface="Roboto Bold Italics"/>
                <a:ea typeface="Roboto Bold Italics"/>
                <a:cs typeface="Roboto Bold Italics"/>
                <a:sym typeface="Roboto Bold Italics"/>
              </a:rPr>
              <a:t>Logistic Regression memiliki kinerja terbaik dengan akurasi 84,78%, diikuti oleh Naïve Bayes dengan akurasi 84,24%. K-Nearest Neighbor (K=13) mencapai akurasi 83,15%, sementara Decision Tree memiliki akurasi terendah 78,26%, yang mungkin disebabkan oleh overfitting atau perlu penyesuaian parameter lebih lanjut.</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878562" y="1274246"/>
            <a:ext cx="7749311" cy="5721735"/>
          </a:xfrm>
          <a:custGeom>
            <a:avLst/>
            <a:gdLst/>
            <a:ahLst/>
            <a:cxnLst/>
            <a:rect r="r" b="b" t="t" l="l"/>
            <a:pathLst>
              <a:path h="5721735" w="7749311">
                <a:moveTo>
                  <a:pt x="0" y="0"/>
                </a:moveTo>
                <a:lnTo>
                  <a:pt x="7749311" y="0"/>
                </a:lnTo>
                <a:lnTo>
                  <a:pt x="7749311" y="5721735"/>
                </a:lnTo>
                <a:lnTo>
                  <a:pt x="0" y="5721735"/>
                </a:lnTo>
                <a:lnTo>
                  <a:pt x="0" y="0"/>
                </a:lnTo>
                <a:close/>
              </a:path>
            </a:pathLst>
          </a:custGeom>
          <a:blipFill>
            <a:blip r:embed="rId3"/>
            <a:stretch>
              <a:fillRect l="0" t="0" r="0" b="0"/>
            </a:stretch>
          </a:blipFill>
        </p:spPr>
      </p:sp>
      <p:sp>
        <p:nvSpPr>
          <p:cNvPr name="Freeform 4" id="4"/>
          <p:cNvSpPr/>
          <p:nvPr/>
        </p:nvSpPr>
        <p:spPr>
          <a:xfrm flipH="false" flipV="true" rot="-2991752">
            <a:off x="-6925632" y="-2674425"/>
            <a:ext cx="9138303" cy="6747303"/>
          </a:xfrm>
          <a:custGeom>
            <a:avLst/>
            <a:gdLst/>
            <a:ahLst/>
            <a:cxnLst/>
            <a:rect r="r" b="b" t="t" l="l"/>
            <a:pathLst>
              <a:path h="6747303" w="9138303">
                <a:moveTo>
                  <a:pt x="0" y="6747303"/>
                </a:moveTo>
                <a:lnTo>
                  <a:pt x="9138303" y="6747303"/>
                </a:lnTo>
                <a:lnTo>
                  <a:pt x="9138303" y="0"/>
                </a:lnTo>
                <a:lnTo>
                  <a:pt x="0" y="0"/>
                </a:lnTo>
                <a:lnTo>
                  <a:pt x="0" y="6747303"/>
                </a:lnTo>
                <a:close/>
              </a:path>
            </a:pathLst>
          </a:custGeom>
          <a:blipFill>
            <a:blip r:embed="rId3"/>
            <a:stretch>
              <a:fillRect l="0" t="0" r="0" b="0"/>
            </a:stretch>
          </a:blipFill>
        </p:spPr>
      </p:sp>
      <p:sp>
        <p:nvSpPr>
          <p:cNvPr name="Freeform 5" id="5"/>
          <p:cNvSpPr/>
          <p:nvPr/>
        </p:nvSpPr>
        <p:spPr>
          <a:xfrm flipH="false" flipV="false" rot="-1570849">
            <a:off x="13215091" y="8556008"/>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45315">
            <a:off x="16828447" y="1830762"/>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3633254" y="1999190"/>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88111" y="8849848"/>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313371" y="3472467"/>
            <a:ext cx="4241740" cy="3357820"/>
          </a:xfrm>
          <a:custGeom>
            <a:avLst/>
            <a:gdLst/>
            <a:ahLst/>
            <a:cxnLst/>
            <a:rect r="r" b="b" t="t" l="l"/>
            <a:pathLst>
              <a:path h="3357820" w="4241740">
                <a:moveTo>
                  <a:pt x="0" y="0"/>
                </a:moveTo>
                <a:lnTo>
                  <a:pt x="4241741" y="0"/>
                </a:lnTo>
                <a:lnTo>
                  <a:pt x="4241741" y="3357819"/>
                </a:lnTo>
                <a:lnTo>
                  <a:pt x="0" y="3357819"/>
                </a:lnTo>
                <a:lnTo>
                  <a:pt x="0" y="0"/>
                </a:lnTo>
                <a:close/>
              </a:path>
            </a:pathLst>
          </a:custGeom>
          <a:blipFill>
            <a:blip r:embed="rId11"/>
            <a:stretch>
              <a:fillRect l="0" t="0" r="0" b="0"/>
            </a:stretch>
          </a:blipFill>
        </p:spPr>
      </p:sp>
      <p:sp>
        <p:nvSpPr>
          <p:cNvPr name="Freeform 11" id="11"/>
          <p:cNvSpPr/>
          <p:nvPr/>
        </p:nvSpPr>
        <p:spPr>
          <a:xfrm flipH="false" flipV="false" rot="0">
            <a:off x="4827132" y="3518462"/>
            <a:ext cx="4277477" cy="3357820"/>
          </a:xfrm>
          <a:custGeom>
            <a:avLst/>
            <a:gdLst/>
            <a:ahLst/>
            <a:cxnLst/>
            <a:rect r="r" b="b" t="t" l="l"/>
            <a:pathLst>
              <a:path h="3357820" w="4277477">
                <a:moveTo>
                  <a:pt x="0" y="0"/>
                </a:moveTo>
                <a:lnTo>
                  <a:pt x="4277478" y="0"/>
                </a:lnTo>
                <a:lnTo>
                  <a:pt x="4277478" y="3357820"/>
                </a:lnTo>
                <a:lnTo>
                  <a:pt x="0" y="3357820"/>
                </a:lnTo>
                <a:lnTo>
                  <a:pt x="0" y="0"/>
                </a:lnTo>
                <a:close/>
              </a:path>
            </a:pathLst>
          </a:custGeom>
          <a:blipFill>
            <a:blip r:embed="rId12"/>
            <a:stretch>
              <a:fillRect l="0" t="0" r="0" b="0"/>
            </a:stretch>
          </a:blipFill>
        </p:spPr>
      </p:sp>
      <p:sp>
        <p:nvSpPr>
          <p:cNvPr name="Freeform 12" id="12"/>
          <p:cNvSpPr/>
          <p:nvPr/>
        </p:nvSpPr>
        <p:spPr>
          <a:xfrm flipH="false" flipV="false" rot="0">
            <a:off x="9338235" y="3518462"/>
            <a:ext cx="4203843" cy="3357820"/>
          </a:xfrm>
          <a:custGeom>
            <a:avLst/>
            <a:gdLst/>
            <a:ahLst/>
            <a:cxnLst/>
            <a:rect r="r" b="b" t="t" l="l"/>
            <a:pathLst>
              <a:path h="3357820" w="4203843">
                <a:moveTo>
                  <a:pt x="0" y="0"/>
                </a:moveTo>
                <a:lnTo>
                  <a:pt x="4203843" y="0"/>
                </a:lnTo>
                <a:lnTo>
                  <a:pt x="4203843" y="3357820"/>
                </a:lnTo>
                <a:lnTo>
                  <a:pt x="0" y="3357820"/>
                </a:lnTo>
                <a:lnTo>
                  <a:pt x="0" y="0"/>
                </a:lnTo>
                <a:close/>
              </a:path>
            </a:pathLst>
          </a:custGeom>
          <a:blipFill>
            <a:blip r:embed="rId13"/>
            <a:stretch>
              <a:fillRect l="0" t="0" r="0" b="0"/>
            </a:stretch>
          </a:blipFill>
        </p:spPr>
      </p:sp>
      <p:sp>
        <p:nvSpPr>
          <p:cNvPr name="Freeform 13" id="13"/>
          <p:cNvSpPr/>
          <p:nvPr/>
        </p:nvSpPr>
        <p:spPr>
          <a:xfrm flipH="false" flipV="false" rot="0">
            <a:off x="13775703" y="3518462"/>
            <a:ext cx="4325694" cy="3357820"/>
          </a:xfrm>
          <a:custGeom>
            <a:avLst/>
            <a:gdLst/>
            <a:ahLst/>
            <a:cxnLst/>
            <a:rect r="r" b="b" t="t" l="l"/>
            <a:pathLst>
              <a:path h="3357820" w="4325694">
                <a:moveTo>
                  <a:pt x="0" y="0"/>
                </a:moveTo>
                <a:lnTo>
                  <a:pt x="4325694" y="0"/>
                </a:lnTo>
                <a:lnTo>
                  <a:pt x="4325694" y="3357820"/>
                </a:lnTo>
                <a:lnTo>
                  <a:pt x="0" y="3357820"/>
                </a:lnTo>
                <a:lnTo>
                  <a:pt x="0" y="0"/>
                </a:lnTo>
                <a:close/>
              </a:path>
            </a:pathLst>
          </a:custGeom>
          <a:blipFill>
            <a:blip r:embed="rId14"/>
            <a:stretch>
              <a:fillRect l="0" t="0" r="0" b="0"/>
            </a:stretch>
          </a:blipFill>
        </p:spPr>
      </p:sp>
      <p:sp>
        <p:nvSpPr>
          <p:cNvPr name="TextBox 14" id="14"/>
          <p:cNvSpPr txBox="true"/>
          <p:nvPr/>
        </p:nvSpPr>
        <p:spPr>
          <a:xfrm rot="0">
            <a:off x="188111" y="7192193"/>
            <a:ext cx="5104412" cy="597988"/>
          </a:xfrm>
          <a:prstGeom prst="rect">
            <a:avLst/>
          </a:prstGeom>
        </p:spPr>
        <p:txBody>
          <a:bodyPr anchor="t" rtlCol="false" tIns="0" lIns="0" bIns="0" rIns="0">
            <a:spAutoFit/>
          </a:bodyPr>
          <a:lstStyle/>
          <a:p>
            <a:pPr algn="l">
              <a:lnSpc>
                <a:spcPts val="4840"/>
              </a:lnSpc>
            </a:pPr>
            <a:r>
              <a:rPr lang="en-US" sz="3457" i="true">
                <a:solidFill>
                  <a:srgbClr val="FFFFFF"/>
                </a:solidFill>
                <a:latin typeface="Roboto Italics"/>
                <a:ea typeface="Roboto Italics"/>
                <a:cs typeface="Roboto Italics"/>
                <a:sym typeface="Roboto Italics"/>
              </a:rPr>
              <a:t>kurva Logistic Regression</a:t>
            </a:r>
          </a:p>
        </p:txBody>
      </p:sp>
      <p:sp>
        <p:nvSpPr>
          <p:cNvPr name="TextBox 15" id="15"/>
          <p:cNvSpPr txBox="true"/>
          <p:nvPr/>
        </p:nvSpPr>
        <p:spPr>
          <a:xfrm rot="0">
            <a:off x="3768134" y="508726"/>
            <a:ext cx="12170416" cy="1712612"/>
          </a:xfrm>
          <a:prstGeom prst="rect">
            <a:avLst/>
          </a:prstGeom>
        </p:spPr>
        <p:txBody>
          <a:bodyPr anchor="t" rtlCol="false" tIns="0" lIns="0" bIns="0" rIns="0">
            <a:spAutoFit/>
          </a:bodyPr>
          <a:lstStyle/>
          <a:p>
            <a:pPr algn="ctr">
              <a:lnSpc>
                <a:spcPts val="14057"/>
              </a:lnSpc>
            </a:pPr>
            <a:r>
              <a:rPr lang="en-US" sz="10040">
                <a:solidFill>
                  <a:srgbClr val="FFB3D0"/>
                </a:solidFill>
                <a:latin typeface="Carlsons Script"/>
                <a:ea typeface="Carlsons Script"/>
                <a:cs typeface="Carlsons Script"/>
                <a:sym typeface="Carlsons Script"/>
              </a:rPr>
              <a:t>Evaluasi Model</a:t>
            </a:r>
          </a:p>
        </p:txBody>
      </p:sp>
      <p:sp>
        <p:nvSpPr>
          <p:cNvPr name="TextBox 16" id="16"/>
          <p:cNvSpPr txBox="true"/>
          <p:nvPr/>
        </p:nvSpPr>
        <p:spPr>
          <a:xfrm rot="0">
            <a:off x="6685405" y="2119793"/>
            <a:ext cx="6493873" cy="730069"/>
          </a:xfrm>
          <a:prstGeom prst="rect">
            <a:avLst/>
          </a:prstGeom>
        </p:spPr>
        <p:txBody>
          <a:bodyPr anchor="t" rtlCol="false" tIns="0" lIns="0" bIns="0" rIns="0">
            <a:spAutoFit/>
          </a:bodyPr>
          <a:lstStyle/>
          <a:p>
            <a:pPr algn="l">
              <a:lnSpc>
                <a:spcPts val="5959"/>
              </a:lnSpc>
            </a:pPr>
            <a:r>
              <a:rPr lang="en-US" sz="4257" i="true" b="true">
                <a:solidFill>
                  <a:srgbClr val="FFFFFF"/>
                </a:solidFill>
                <a:latin typeface="Roboto Bold Italics"/>
                <a:ea typeface="Roboto Bold Italics"/>
                <a:cs typeface="Roboto Bold Italics"/>
                <a:sym typeface="Roboto Bold Italics"/>
              </a:rPr>
              <a:t>Kurva ROC dan Skor AUC</a:t>
            </a:r>
          </a:p>
        </p:txBody>
      </p:sp>
      <p:sp>
        <p:nvSpPr>
          <p:cNvPr name="TextBox 17" id="17"/>
          <p:cNvSpPr txBox="true"/>
          <p:nvPr/>
        </p:nvSpPr>
        <p:spPr>
          <a:xfrm rot="0">
            <a:off x="6052034" y="7192193"/>
            <a:ext cx="2697978" cy="597988"/>
          </a:xfrm>
          <a:prstGeom prst="rect">
            <a:avLst/>
          </a:prstGeom>
        </p:spPr>
        <p:txBody>
          <a:bodyPr anchor="t" rtlCol="false" tIns="0" lIns="0" bIns="0" rIns="0">
            <a:spAutoFit/>
          </a:bodyPr>
          <a:lstStyle/>
          <a:p>
            <a:pPr algn="l">
              <a:lnSpc>
                <a:spcPts val="4840"/>
              </a:lnSpc>
            </a:pPr>
            <a:r>
              <a:rPr lang="en-US" sz="3457" i="true">
                <a:solidFill>
                  <a:srgbClr val="FFFFFF"/>
                </a:solidFill>
                <a:latin typeface="Roboto Italics"/>
                <a:ea typeface="Roboto Italics"/>
                <a:cs typeface="Roboto Italics"/>
                <a:sym typeface="Roboto Italics"/>
              </a:rPr>
              <a:t>kurva KNN</a:t>
            </a:r>
          </a:p>
        </p:txBody>
      </p:sp>
      <p:sp>
        <p:nvSpPr>
          <p:cNvPr name="TextBox 18" id="18"/>
          <p:cNvSpPr txBox="true"/>
          <p:nvPr/>
        </p:nvSpPr>
        <p:spPr>
          <a:xfrm rot="0">
            <a:off x="14164268" y="7159173"/>
            <a:ext cx="4123732" cy="597988"/>
          </a:xfrm>
          <a:prstGeom prst="rect">
            <a:avLst/>
          </a:prstGeom>
        </p:spPr>
        <p:txBody>
          <a:bodyPr anchor="t" rtlCol="false" tIns="0" lIns="0" bIns="0" rIns="0">
            <a:spAutoFit/>
          </a:bodyPr>
          <a:lstStyle/>
          <a:p>
            <a:pPr algn="l">
              <a:lnSpc>
                <a:spcPts val="4840"/>
              </a:lnSpc>
            </a:pPr>
            <a:r>
              <a:rPr lang="en-US" sz="3457" i="true">
                <a:solidFill>
                  <a:srgbClr val="FFFFFF"/>
                </a:solidFill>
                <a:latin typeface="Roboto Italics"/>
                <a:ea typeface="Roboto Italics"/>
                <a:cs typeface="Roboto Italics"/>
                <a:sym typeface="Roboto Italics"/>
              </a:rPr>
              <a:t>kurva Naive Bayes </a:t>
            </a:r>
          </a:p>
        </p:txBody>
      </p:sp>
      <p:sp>
        <p:nvSpPr>
          <p:cNvPr name="TextBox 19" id="19"/>
          <p:cNvSpPr txBox="true"/>
          <p:nvPr/>
        </p:nvSpPr>
        <p:spPr>
          <a:xfrm rot="0">
            <a:off x="9509522" y="7159173"/>
            <a:ext cx="4123732" cy="597988"/>
          </a:xfrm>
          <a:prstGeom prst="rect">
            <a:avLst/>
          </a:prstGeom>
        </p:spPr>
        <p:txBody>
          <a:bodyPr anchor="t" rtlCol="false" tIns="0" lIns="0" bIns="0" rIns="0">
            <a:spAutoFit/>
          </a:bodyPr>
          <a:lstStyle/>
          <a:p>
            <a:pPr algn="l">
              <a:lnSpc>
                <a:spcPts val="4840"/>
              </a:lnSpc>
            </a:pPr>
            <a:r>
              <a:rPr lang="en-US" sz="3457" i="true">
                <a:solidFill>
                  <a:srgbClr val="FFFFFF"/>
                </a:solidFill>
                <a:latin typeface="Roboto Italics"/>
                <a:ea typeface="Roboto Italics"/>
                <a:cs typeface="Roboto Italics"/>
                <a:sym typeface="Roboto Italics"/>
              </a:rPr>
              <a:t>kurva Decision Tree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424587" y="-1227941"/>
            <a:ext cx="7749311" cy="5721735"/>
          </a:xfrm>
          <a:custGeom>
            <a:avLst/>
            <a:gdLst/>
            <a:ahLst/>
            <a:cxnLst/>
            <a:rect r="r" b="b" t="t" l="l"/>
            <a:pathLst>
              <a:path h="5721735" w="7749311">
                <a:moveTo>
                  <a:pt x="0" y="0"/>
                </a:moveTo>
                <a:lnTo>
                  <a:pt x="7749310" y="0"/>
                </a:lnTo>
                <a:lnTo>
                  <a:pt x="7749310" y="5721735"/>
                </a:lnTo>
                <a:lnTo>
                  <a:pt x="0" y="5721735"/>
                </a:lnTo>
                <a:lnTo>
                  <a:pt x="0" y="0"/>
                </a:lnTo>
                <a:close/>
              </a:path>
            </a:pathLst>
          </a:custGeom>
          <a:blipFill>
            <a:blip r:embed="rId3"/>
            <a:stretch>
              <a:fillRect l="0" t="0" r="0" b="0"/>
            </a:stretch>
          </a:blipFill>
        </p:spPr>
      </p:sp>
      <p:sp>
        <p:nvSpPr>
          <p:cNvPr name="Freeform 4" id="4"/>
          <p:cNvSpPr/>
          <p:nvPr/>
        </p:nvSpPr>
        <p:spPr>
          <a:xfrm flipH="false" flipV="true" rot="-2991752">
            <a:off x="-6925632" y="-2674425"/>
            <a:ext cx="9138303" cy="6747303"/>
          </a:xfrm>
          <a:custGeom>
            <a:avLst/>
            <a:gdLst/>
            <a:ahLst/>
            <a:cxnLst/>
            <a:rect r="r" b="b" t="t" l="l"/>
            <a:pathLst>
              <a:path h="6747303" w="9138303">
                <a:moveTo>
                  <a:pt x="0" y="6747303"/>
                </a:moveTo>
                <a:lnTo>
                  <a:pt x="9138303" y="6747303"/>
                </a:lnTo>
                <a:lnTo>
                  <a:pt x="9138303" y="0"/>
                </a:lnTo>
                <a:lnTo>
                  <a:pt x="0" y="0"/>
                </a:lnTo>
                <a:lnTo>
                  <a:pt x="0" y="6747303"/>
                </a:lnTo>
                <a:close/>
              </a:path>
            </a:pathLst>
          </a:custGeom>
          <a:blipFill>
            <a:blip r:embed="rId3"/>
            <a:stretch>
              <a:fillRect l="0" t="0" r="0" b="0"/>
            </a:stretch>
          </a:blipFill>
        </p:spPr>
      </p:sp>
      <p:sp>
        <p:nvSpPr>
          <p:cNvPr name="Freeform 5" id="5"/>
          <p:cNvSpPr/>
          <p:nvPr/>
        </p:nvSpPr>
        <p:spPr>
          <a:xfrm flipH="false" flipV="false" rot="-1570849">
            <a:off x="13215091" y="8556008"/>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45315">
            <a:off x="16828447" y="1830762"/>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3633254" y="1999190"/>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88111" y="8849848"/>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352830" y="3716746"/>
            <a:ext cx="4202166" cy="3575578"/>
          </a:xfrm>
          <a:custGeom>
            <a:avLst/>
            <a:gdLst/>
            <a:ahLst/>
            <a:cxnLst/>
            <a:rect r="r" b="b" t="t" l="l"/>
            <a:pathLst>
              <a:path h="3575578" w="4202166">
                <a:moveTo>
                  <a:pt x="0" y="0"/>
                </a:moveTo>
                <a:lnTo>
                  <a:pt x="4202166" y="0"/>
                </a:lnTo>
                <a:lnTo>
                  <a:pt x="4202166" y="3575578"/>
                </a:lnTo>
                <a:lnTo>
                  <a:pt x="0" y="3575578"/>
                </a:lnTo>
                <a:lnTo>
                  <a:pt x="0" y="0"/>
                </a:lnTo>
                <a:close/>
              </a:path>
            </a:pathLst>
          </a:custGeom>
          <a:blipFill>
            <a:blip r:embed="rId11"/>
            <a:stretch>
              <a:fillRect l="0" t="0" r="0" b="0"/>
            </a:stretch>
          </a:blipFill>
        </p:spPr>
      </p:sp>
      <p:sp>
        <p:nvSpPr>
          <p:cNvPr name="Freeform 11" id="11"/>
          <p:cNvSpPr/>
          <p:nvPr/>
        </p:nvSpPr>
        <p:spPr>
          <a:xfrm flipH="false" flipV="false" rot="0">
            <a:off x="4816892" y="3716746"/>
            <a:ext cx="4159230" cy="3575578"/>
          </a:xfrm>
          <a:custGeom>
            <a:avLst/>
            <a:gdLst/>
            <a:ahLst/>
            <a:cxnLst/>
            <a:rect r="r" b="b" t="t" l="l"/>
            <a:pathLst>
              <a:path h="3575578" w="4159230">
                <a:moveTo>
                  <a:pt x="0" y="0"/>
                </a:moveTo>
                <a:lnTo>
                  <a:pt x="4159230" y="0"/>
                </a:lnTo>
                <a:lnTo>
                  <a:pt x="4159230" y="3575578"/>
                </a:lnTo>
                <a:lnTo>
                  <a:pt x="0" y="3575578"/>
                </a:lnTo>
                <a:lnTo>
                  <a:pt x="0" y="0"/>
                </a:lnTo>
                <a:close/>
              </a:path>
            </a:pathLst>
          </a:custGeom>
          <a:blipFill>
            <a:blip r:embed="rId12"/>
            <a:stretch>
              <a:fillRect l="0" t="0" r="0" b="0"/>
            </a:stretch>
          </a:blipFill>
        </p:spPr>
      </p:sp>
      <p:sp>
        <p:nvSpPr>
          <p:cNvPr name="Freeform 12" id="12"/>
          <p:cNvSpPr/>
          <p:nvPr/>
        </p:nvSpPr>
        <p:spPr>
          <a:xfrm flipH="false" flipV="false" rot="0">
            <a:off x="9296700" y="3716746"/>
            <a:ext cx="4243019" cy="3575578"/>
          </a:xfrm>
          <a:custGeom>
            <a:avLst/>
            <a:gdLst/>
            <a:ahLst/>
            <a:cxnLst/>
            <a:rect r="r" b="b" t="t" l="l"/>
            <a:pathLst>
              <a:path h="3575578" w="4243019">
                <a:moveTo>
                  <a:pt x="0" y="0"/>
                </a:moveTo>
                <a:lnTo>
                  <a:pt x="4243020" y="0"/>
                </a:lnTo>
                <a:lnTo>
                  <a:pt x="4243020" y="3575578"/>
                </a:lnTo>
                <a:lnTo>
                  <a:pt x="0" y="3575578"/>
                </a:lnTo>
                <a:lnTo>
                  <a:pt x="0" y="0"/>
                </a:lnTo>
                <a:close/>
              </a:path>
            </a:pathLst>
          </a:custGeom>
          <a:blipFill>
            <a:blip r:embed="rId13"/>
            <a:stretch>
              <a:fillRect l="0" t="0" r="0" b="0"/>
            </a:stretch>
          </a:blipFill>
        </p:spPr>
      </p:sp>
      <p:sp>
        <p:nvSpPr>
          <p:cNvPr name="Freeform 13" id="13"/>
          <p:cNvSpPr/>
          <p:nvPr/>
        </p:nvSpPr>
        <p:spPr>
          <a:xfrm flipH="false" flipV="false" rot="0">
            <a:off x="13705166" y="3716746"/>
            <a:ext cx="4230341" cy="3575578"/>
          </a:xfrm>
          <a:custGeom>
            <a:avLst/>
            <a:gdLst/>
            <a:ahLst/>
            <a:cxnLst/>
            <a:rect r="r" b="b" t="t" l="l"/>
            <a:pathLst>
              <a:path h="3575578" w="4230341">
                <a:moveTo>
                  <a:pt x="0" y="0"/>
                </a:moveTo>
                <a:lnTo>
                  <a:pt x="4230341" y="0"/>
                </a:lnTo>
                <a:lnTo>
                  <a:pt x="4230341" y="3575578"/>
                </a:lnTo>
                <a:lnTo>
                  <a:pt x="0" y="3575578"/>
                </a:lnTo>
                <a:lnTo>
                  <a:pt x="0" y="0"/>
                </a:lnTo>
                <a:close/>
              </a:path>
            </a:pathLst>
          </a:custGeom>
          <a:blipFill>
            <a:blip r:embed="rId14"/>
            <a:stretch>
              <a:fillRect l="0" t="0" r="0" b="0"/>
            </a:stretch>
          </a:blipFill>
        </p:spPr>
      </p:sp>
      <p:sp>
        <p:nvSpPr>
          <p:cNvPr name="TextBox 14" id="14"/>
          <p:cNvSpPr txBox="true"/>
          <p:nvPr/>
        </p:nvSpPr>
        <p:spPr>
          <a:xfrm rot="0">
            <a:off x="467157" y="7525971"/>
            <a:ext cx="3973511" cy="597988"/>
          </a:xfrm>
          <a:prstGeom prst="rect">
            <a:avLst/>
          </a:prstGeom>
        </p:spPr>
        <p:txBody>
          <a:bodyPr anchor="t" rtlCol="false" tIns="0" lIns="0" bIns="0" rIns="0">
            <a:spAutoFit/>
          </a:bodyPr>
          <a:lstStyle/>
          <a:p>
            <a:pPr algn="l">
              <a:lnSpc>
                <a:spcPts val="4840"/>
              </a:lnSpc>
            </a:pPr>
            <a:r>
              <a:rPr lang="en-US" sz="3457" i="true">
                <a:solidFill>
                  <a:srgbClr val="FFFFFF"/>
                </a:solidFill>
                <a:latin typeface="Roboto Italics"/>
                <a:ea typeface="Roboto Italics"/>
                <a:cs typeface="Roboto Italics"/>
                <a:sym typeface="Roboto Italics"/>
              </a:rPr>
              <a:t>Logistic Regression</a:t>
            </a:r>
          </a:p>
        </p:txBody>
      </p:sp>
      <p:sp>
        <p:nvSpPr>
          <p:cNvPr name="TextBox 15" id="15"/>
          <p:cNvSpPr txBox="true"/>
          <p:nvPr/>
        </p:nvSpPr>
        <p:spPr>
          <a:xfrm rot="0">
            <a:off x="3768134" y="508726"/>
            <a:ext cx="12170416" cy="1712612"/>
          </a:xfrm>
          <a:prstGeom prst="rect">
            <a:avLst/>
          </a:prstGeom>
        </p:spPr>
        <p:txBody>
          <a:bodyPr anchor="t" rtlCol="false" tIns="0" lIns="0" bIns="0" rIns="0">
            <a:spAutoFit/>
          </a:bodyPr>
          <a:lstStyle/>
          <a:p>
            <a:pPr algn="ctr">
              <a:lnSpc>
                <a:spcPts val="14057"/>
              </a:lnSpc>
            </a:pPr>
            <a:r>
              <a:rPr lang="en-US" sz="10040">
                <a:solidFill>
                  <a:srgbClr val="FFB3D0"/>
                </a:solidFill>
                <a:latin typeface="Carlsons Script"/>
                <a:ea typeface="Carlsons Script"/>
                <a:cs typeface="Carlsons Script"/>
                <a:sym typeface="Carlsons Script"/>
              </a:rPr>
              <a:t>Evaluasi Model</a:t>
            </a:r>
          </a:p>
        </p:txBody>
      </p:sp>
      <p:sp>
        <p:nvSpPr>
          <p:cNvPr name="TextBox 16" id="16"/>
          <p:cNvSpPr txBox="true"/>
          <p:nvPr/>
        </p:nvSpPr>
        <p:spPr>
          <a:xfrm rot="0">
            <a:off x="7475966" y="2103283"/>
            <a:ext cx="4754751" cy="796109"/>
          </a:xfrm>
          <a:prstGeom prst="rect">
            <a:avLst/>
          </a:prstGeom>
        </p:spPr>
        <p:txBody>
          <a:bodyPr anchor="t" rtlCol="false" tIns="0" lIns="0" bIns="0" rIns="0">
            <a:spAutoFit/>
          </a:bodyPr>
          <a:lstStyle/>
          <a:p>
            <a:pPr algn="l">
              <a:lnSpc>
                <a:spcPts val="6519"/>
              </a:lnSpc>
            </a:pPr>
            <a:r>
              <a:rPr lang="en-US" sz="4657" i="true" b="true">
                <a:solidFill>
                  <a:srgbClr val="FFFFFF"/>
                </a:solidFill>
                <a:latin typeface="Roboto Bold Italics"/>
                <a:ea typeface="Roboto Bold Italics"/>
                <a:cs typeface="Roboto Bold Italics"/>
                <a:sym typeface="Roboto Bold Italics"/>
              </a:rPr>
              <a:t>Confusion Matrix</a:t>
            </a:r>
          </a:p>
        </p:txBody>
      </p:sp>
      <p:sp>
        <p:nvSpPr>
          <p:cNvPr name="TextBox 17" id="17"/>
          <p:cNvSpPr txBox="true"/>
          <p:nvPr/>
        </p:nvSpPr>
        <p:spPr>
          <a:xfrm rot="0">
            <a:off x="6452265" y="7530449"/>
            <a:ext cx="1199294" cy="597988"/>
          </a:xfrm>
          <a:prstGeom prst="rect">
            <a:avLst/>
          </a:prstGeom>
        </p:spPr>
        <p:txBody>
          <a:bodyPr anchor="t" rtlCol="false" tIns="0" lIns="0" bIns="0" rIns="0">
            <a:spAutoFit/>
          </a:bodyPr>
          <a:lstStyle/>
          <a:p>
            <a:pPr algn="l">
              <a:lnSpc>
                <a:spcPts val="4840"/>
              </a:lnSpc>
            </a:pPr>
            <a:r>
              <a:rPr lang="en-US" sz="3457" i="true">
                <a:solidFill>
                  <a:srgbClr val="FFFFFF"/>
                </a:solidFill>
                <a:latin typeface="Roboto Italics"/>
                <a:ea typeface="Roboto Italics"/>
                <a:cs typeface="Roboto Italics"/>
                <a:sym typeface="Roboto Italics"/>
              </a:rPr>
              <a:t>KNN</a:t>
            </a:r>
          </a:p>
        </p:txBody>
      </p:sp>
      <p:sp>
        <p:nvSpPr>
          <p:cNvPr name="TextBox 18" id="18"/>
          <p:cNvSpPr txBox="true"/>
          <p:nvPr/>
        </p:nvSpPr>
        <p:spPr>
          <a:xfrm rot="0">
            <a:off x="10134429" y="7530449"/>
            <a:ext cx="2567562" cy="597988"/>
          </a:xfrm>
          <a:prstGeom prst="rect">
            <a:avLst/>
          </a:prstGeom>
        </p:spPr>
        <p:txBody>
          <a:bodyPr anchor="t" rtlCol="false" tIns="0" lIns="0" bIns="0" rIns="0">
            <a:spAutoFit/>
          </a:bodyPr>
          <a:lstStyle/>
          <a:p>
            <a:pPr algn="l">
              <a:lnSpc>
                <a:spcPts val="4840"/>
              </a:lnSpc>
            </a:pPr>
            <a:r>
              <a:rPr lang="en-US" sz="3457" i="true">
                <a:solidFill>
                  <a:srgbClr val="FFFFFF"/>
                </a:solidFill>
                <a:latin typeface="Roboto Italics"/>
                <a:ea typeface="Roboto Italics"/>
                <a:cs typeface="Roboto Italics"/>
                <a:sym typeface="Roboto Italics"/>
              </a:rPr>
              <a:t>Naive Bayes </a:t>
            </a:r>
          </a:p>
        </p:txBody>
      </p:sp>
      <p:sp>
        <p:nvSpPr>
          <p:cNvPr name="TextBox 19" id="19"/>
          <p:cNvSpPr txBox="true"/>
          <p:nvPr/>
        </p:nvSpPr>
        <p:spPr>
          <a:xfrm rot="0">
            <a:off x="14497687" y="7525971"/>
            <a:ext cx="2645300" cy="597988"/>
          </a:xfrm>
          <a:prstGeom prst="rect">
            <a:avLst/>
          </a:prstGeom>
        </p:spPr>
        <p:txBody>
          <a:bodyPr anchor="t" rtlCol="false" tIns="0" lIns="0" bIns="0" rIns="0">
            <a:spAutoFit/>
          </a:bodyPr>
          <a:lstStyle/>
          <a:p>
            <a:pPr algn="l">
              <a:lnSpc>
                <a:spcPts val="4840"/>
              </a:lnSpc>
            </a:pPr>
            <a:r>
              <a:rPr lang="en-US" sz="3457" i="true">
                <a:solidFill>
                  <a:srgbClr val="FFFFFF"/>
                </a:solidFill>
                <a:latin typeface="Roboto Italics"/>
                <a:ea typeface="Roboto Italics"/>
                <a:cs typeface="Roboto Italics"/>
                <a:sym typeface="Roboto Italics"/>
              </a:rPr>
              <a:t>Decision Tree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286089" y="-1832167"/>
            <a:ext cx="7749311" cy="5721735"/>
          </a:xfrm>
          <a:custGeom>
            <a:avLst/>
            <a:gdLst/>
            <a:ahLst/>
            <a:cxnLst/>
            <a:rect r="r" b="b" t="t" l="l"/>
            <a:pathLst>
              <a:path h="5721735" w="7749311">
                <a:moveTo>
                  <a:pt x="0" y="0"/>
                </a:moveTo>
                <a:lnTo>
                  <a:pt x="7749310" y="0"/>
                </a:lnTo>
                <a:lnTo>
                  <a:pt x="7749310" y="5721734"/>
                </a:lnTo>
                <a:lnTo>
                  <a:pt x="0" y="5721734"/>
                </a:lnTo>
                <a:lnTo>
                  <a:pt x="0" y="0"/>
                </a:lnTo>
                <a:close/>
              </a:path>
            </a:pathLst>
          </a:custGeom>
          <a:blipFill>
            <a:blip r:embed="rId3"/>
            <a:stretch>
              <a:fillRect l="0" t="0" r="0" b="0"/>
            </a:stretch>
          </a:blipFill>
        </p:spPr>
      </p:sp>
      <p:sp>
        <p:nvSpPr>
          <p:cNvPr name="Freeform 4" id="4"/>
          <p:cNvSpPr/>
          <p:nvPr/>
        </p:nvSpPr>
        <p:spPr>
          <a:xfrm flipH="false" flipV="true" rot="-2991752">
            <a:off x="-6925632" y="-2674425"/>
            <a:ext cx="9138303" cy="6747303"/>
          </a:xfrm>
          <a:custGeom>
            <a:avLst/>
            <a:gdLst/>
            <a:ahLst/>
            <a:cxnLst/>
            <a:rect r="r" b="b" t="t" l="l"/>
            <a:pathLst>
              <a:path h="6747303" w="9138303">
                <a:moveTo>
                  <a:pt x="0" y="6747303"/>
                </a:moveTo>
                <a:lnTo>
                  <a:pt x="9138303" y="6747303"/>
                </a:lnTo>
                <a:lnTo>
                  <a:pt x="9138303" y="0"/>
                </a:lnTo>
                <a:lnTo>
                  <a:pt x="0" y="0"/>
                </a:lnTo>
                <a:lnTo>
                  <a:pt x="0" y="6747303"/>
                </a:lnTo>
                <a:close/>
              </a:path>
            </a:pathLst>
          </a:custGeom>
          <a:blipFill>
            <a:blip r:embed="rId3"/>
            <a:stretch>
              <a:fillRect l="0" t="0" r="0" b="0"/>
            </a:stretch>
          </a:blipFill>
        </p:spPr>
      </p:sp>
      <p:sp>
        <p:nvSpPr>
          <p:cNvPr name="Freeform 5" id="5"/>
          <p:cNvSpPr/>
          <p:nvPr/>
        </p:nvSpPr>
        <p:spPr>
          <a:xfrm flipH="false" flipV="false" rot="-1570849">
            <a:off x="12308855" y="9681044"/>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45315">
            <a:off x="17114924" y="223067"/>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2466839" y="-260532"/>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88111" y="8849848"/>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509708" y="3232436"/>
            <a:ext cx="9343634" cy="6318632"/>
          </a:xfrm>
          <a:custGeom>
            <a:avLst/>
            <a:gdLst/>
            <a:ahLst/>
            <a:cxnLst/>
            <a:rect r="r" b="b" t="t" l="l"/>
            <a:pathLst>
              <a:path h="6318632" w="9343634">
                <a:moveTo>
                  <a:pt x="0" y="0"/>
                </a:moveTo>
                <a:lnTo>
                  <a:pt x="9343634" y="0"/>
                </a:lnTo>
                <a:lnTo>
                  <a:pt x="9343634" y="6318632"/>
                </a:lnTo>
                <a:lnTo>
                  <a:pt x="0" y="6318632"/>
                </a:lnTo>
                <a:lnTo>
                  <a:pt x="0" y="0"/>
                </a:lnTo>
                <a:close/>
              </a:path>
            </a:pathLst>
          </a:custGeom>
          <a:blipFill>
            <a:blip r:embed="rId11"/>
            <a:stretch>
              <a:fillRect l="0" t="0" r="0" b="0"/>
            </a:stretch>
          </a:blipFill>
        </p:spPr>
      </p:sp>
      <p:sp>
        <p:nvSpPr>
          <p:cNvPr name="TextBox 11" id="11"/>
          <p:cNvSpPr txBox="true"/>
          <p:nvPr/>
        </p:nvSpPr>
        <p:spPr>
          <a:xfrm rot="0">
            <a:off x="3768134" y="508726"/>
            <a:ext cx="12170416" cy="1712612"/>
          </a:xfrm>
          <a:prstGeom prst="rect">
            <a:avLst/>
          </a:prstGeom>
        </p:spPr>
        <p:txBody>
          <a:bodyPr anchor="t" rtlCol="false" tIns="0" lIns="0" bIns="0" rIns="0">
            <a:spAutoFit/>
          </a:bodyPr>
          <a:lstStyle/>
          <a:p>
            <a:pPr algn="ctr">
              <a:lnSpc>
                <a:spcPts val="14057"/>
              </a:lnSpc>
            </a:pPr>
            <a:r>
              <a:rPr lang="en-US" sz="10040">
                <a:solidFill>
                  <a:srgbClr val="FFB3D0"/>
                </a:solidFill>
                <a:latin typeface="Carlsons Script"/>
                <a:ea typeface="Carlsons Script"/>
                <a:cs typeface="Carlsons Script"/>
                <a:sym typeface="Carlsons Script"/>
              </a:rPr>
              <a:t>Analisis Fitur</a:t>
            </a:r>
          </a:p>
        </p:txBody>
      </p:sp>
      <p:sp>
        <p:nvSpPr>
          <p:cNvPr name="TextBox 12" id="12"/>
          <p:cNvSpPr txBox="true"/>
          <p:nvPr/>
        </p:nvSpPr>
        <p:spPr>
          <a:xfrm rot="0">
            <a:off x="5147585" y="2169323"/>
            <a:ext cx="9749611" cy="730069"/>
          </a:xfrm>
          <a:prstGeom prst="rect">
            <a:avLst/>
          </a:prstGeom>
        </p:spPr>
        <p:txBody>
          <a:bodyPr anchor="t" rtlCol="false" tIns="0" lIns="0" bIns="0" rIns="0">
            <a:spAutoFit/>
          </a:bodyPr>
          <a:lstStyle/>
          <a:p>
            <a:pPr algn="l">
              <a:lnSpc>
                <a:spcPts val="5959"/>
              </a:lnSpc>
            </a:pPr>
            <a:r>
              <a:rPr lang="en-US" sz="4257" i="true" b="true">
                <a:solidFill>
                  <a:srgbClr val="FFFFFF"/>
                </a:solidFill>
                <a:latin typeface="Roboto Bold Italics"/>
                <a:ea typeface="Roboto Bold Italics"/>
                <a:cs typeface="Roboto Bold Italics"/>
                <a:sym typeface="Roboto Bold Italics"/>
              </a:rPr>
              <a:t>Feature Importance pada Decision Tree</a:t>
            </a:r>
          </a:p>
        </p:txBody>
      </p:sp>
      <p:sp>
        <p:nvSpPr>
          <p:cNvPr name="TextBox 13" id="13"/>
          <p:cNvSpPr txBox="true"/>
          <p:nvPr/>
        </p:nvSpPr>
        <p:spPr>
          <a:xfrm rot="0">
            <a:off x="10240432" y="3282406"/>
            <a:ext cx="7507435" cy="6383655"/>
          </a:xfrm>
          <a:prstGeom prst="rect">
            <a:avLst/>
          </a:prstGeom>
        </p:spPr>
        <p:txBody>
          <a:bodyPr anchor="t" rtlCol="false" tIns="0" lIns="0" bIns="0" rIns="0">
            <a:spAutoFit/>
          </a:bodyPr>
          <a:lstStyle/>
          <a:p>
            <a:pPr algn="l">
              <a:lnSpc>
                <a:spcPts val="4620"/>
              </a:lnSpc>
            </a:pPr>
            <a:r>
              <a:rPr lang="en-US" sz="3300" i="true">
                <a:solidFill>
                  <a:srgbClr val="FFFFFF"/>
                </a:solidFill>
                <a:latin typeface="Roboto Italics"/>
                <a:ea typeface="Roboto Italics"/>
                <a:cs typeface="Roboto Italics"/>
                <a:sym typeface="Roboto Italics"/>
              </a:rPr>
              <a:t>Dari analisis feature importance pada model Decision Tree, dapat disimpulkan bahwa:</a:t>
            </a:r>
          </a:p>
          <a:p>
            <a:pPr algn="l" marL="712472" indent="-356236" lvl="1">
              <a:lnSpc>
                <a:spcPts val="4620"/>
              </a:lnSpc>
              <a:buFont typeface="Arial"/>
              <a:buChar char="•"/>
            </a:pPr>
            <a:r>
              <a:rPr lang="en-US" sz="3300" i="true">
                <a:solidFill>
                  <a:srgbClr val="FFFFFF"/>
                </a:solidFill>
                <a:latin typeface="Roboto Italics"/>
                <a:ea typeface="Roboto Italics"/>
                <a:cs typeface="Roboto Italics"/>
                <a:sym typeface="Roboto Italics"/>
              </a:rPr>
              <a:t>ST_Slope adalah fitur paling penting dalam prediksi penyakit jantung.</a:t>
            </a:r>
          </a:p>
          <a:p>
            <a:pPr algn="l" marL="712472" indent="-356236" lvl="1">
              <a:lnSpc>
                <a:spcPts val="4620"/>
              </a:lnSpc>
              <a:buFont typeface="Arial"/>
              <a:buChar char="•"/>
            </a:pPr>
            <a:r>
              <a:rPr lang="en-US" sz="3300" i="true">
                <a:solidFill>
                  <a:srgbClr val="FFFFFF"/>
                </a:solidFill>
                <a:latin typeface="Roboto Italics"/>
                <a:ea typeface="Roboto Italics"/>
                <a:cs typeface="Roboto Italics"/>
                <a:sym typeface="Roboto Italics"/>
              </a:rPr>
              <a:t>MaxHR, Cholesterol, dan Age juga berkontribusi signifikan.</a:t>
            </a:r>
          </a:p>
          <a:p>
            <a:pPr algn="l" marL="712472" indent="-356236" lvl="1">
              <a:lnSpc>
                <a:spcPts val="4620"/>
              </a:lnSpc>
              <a:buFont typeface="Arial"/>
              <a:buChar char="•"/>
            </a:pPr>
            <a:r>
              <a:rPr lang="en-US" sz="3300" i="true">
                <a:solidFill>
                  <a:srgbClr val="FFFFFF"/>
                </a:solidFill>
                <a:latin typeface="Roboto Italics"/>
                <a:ea typeface="Roboto Italics"/>
                <a:cs typeface="Roboto Italics"/>
                <a:sym typeface="Roboto Italics"/>
              </a:rPr>
              <a:t>Fitur lain seperti ChestPainType, ExerciseAngina, dan RestingECG memiliki kontribusi yang lebih kecil.</a:t>
            </a:r>
          </a:p>
          <a:p>
            <a:pPr algn="l">
              <a:lnSpc>
                <a:spcPts val="4620"/>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542607" y="-1832167"/>
            <a:ext cx="7749311" cy="5721735"/>
          </a:xfrm>
          <a:custGeom>
            <a:avLst/>
            <a:gdLst/>
            <a:ahLst/>
            <a:cxnLst/>
            <a:rect r="r" b="b" t="t" l="l"/>
            <a:pathLst>
              <a:path h="5721735" w="7749311">
                <a:moveTo>
                  <a:pt x="0" y="0"/>
                </a:moveTo>
                <a:lnTo>
                  <a:pt x="7749311" y="0"/>
                </a:lnTo>
                <a:lnTo>
                  <a:pt x="7749311" y="5721734"/>
                </a:lnTo>
                <a:lnTo>
                  <a:pt x="0" y="5721734"/>
                </a:lnTo>
                <a:lnTo>
                  <a:pt x="0" y="0"/>
                </a:lnTo>
                <a:close/>
              </a:path>
            </a:pathLst>
          </a:custGeom>
          <a:blipFill>
            <a:blip r:embed="rId3"/>
            <a:stretch>
              <a:fillRect l="0" t="0" r="0" b="0"/>
            </a:stretch>
          </a:blipFill>
        </p:spPr>
      </p:sp>
      <p:sp>
        <p:nvSpPr>
          <p:cNvPr name="Freeform 4" id="4"/>
          <p:cNvSpPr/>
          <p:nvPr/>
        </p:nvSpPr>
        <p:spPr>
          <a:xfrm flipH="false" flipV="true" rot="-2991752">
            <a:off x="-6925632" y="-2674425"/>
            <a:ext cx="9138303" cy="6747303"/>
          </a:xfrm>
          <a:custGeom>
            <a:avLst/>
            <a:gdLst/>
            <a:ahLst/>
            <a:cxnLst/>
            <a:rect r="r" b="b" t="t" l="l"/>
            <a:pathLst>
              <a:path h="6747303" w="9138303">
                <a:moveTo>
                  <a:pt x="0" y="6747303"/>
                </a:moveTo>
                <a:lnTo>
                  <a:pt x="9138303" y="6747303"/>
                </a:lnTo>
                <a:lnTo>
                  <a:pt x="9138303" y="0"/>
                </a:lnTo>
                <a:lnTo>
                  <a:pt x="0" y="0"/>
                </a:lnTo>
                <a:lnTo>
                  <a:pt x="0" y="6747303"/>
                </a:lnTo>
                <a:close/>
              </a:path>
            </a:pathLst>
          </a:custGeom>
          <a:blipFill>
            <a:blip r:embed="rId3"/>
            <a:stretch>
              <a:fillRect l="0" t="0" r="0" b="0"/>
            </a:stretch>
          </a:blipFill>
        </p:spPr>
      </p:sp>
      <p:sp>
        <p:nvSpPr>
          <p:cNvPr name="Freeform 5" id="5"/>
          <p:cNvSpPr/>
          <p:nvPr/>
        </p:nvSpPr>
        <p:spPr>
          <a:xfrm flipH="false" flipV="false" rot="-1570849">
            <a:off x="12308855" y="9681044"/>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45315">
            <a:off x="17114924" y="223067"/>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2466839" y="-260532"/>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88111" y="8849848"/>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0" id="10"/>
          <p:cNvSpPr/>
          <p:nvPr/>
        </p:nvSpPr>
        <p:spPr>
          <a:xfrm flipH="false" flipV="false" rot="0">
            <a:off x="9144000" y="3467100"/>
            <a:ext cx="8781022" cy="5729617"/>
          </a:xfrm>
          <a:custGeom>
            <a:avLst/>
            <a:gdLst/>
            <a:ahLst/>
            <a:cxnLst/>
            <a:rect r="r" b="b" t="t" l="l"/>
            <a:pathLst>
              <a:path h="5729617" w="8781022">
                <a:moveTo>
                  <a:pt x="0" y="0"/>
                </a:moveTo>
                <a:lnTo>
                  <a:pt x="8781022" y="0"/>
                </a:lnTo>
                <a:lnTo>
                  <a:pt x="8781022" y="5729617"/>
                </a:lnTo>
                <a:lnTo>
                  <a:pt x="0" y="5729617"/>
                </a:lnTo>
                <a:lnTo>
                  <a:pt x="0" y="0"/>
                </a:lnTo>
                <a:close/>
              </a:path>
            </a:pathLst>
          </a:custGeom>
          <a:blipFill>
            <a:blip r:embed="rId11"/>
            <a:stretch>
              <a:fillRect l="0" t="0" r="0" b="0"/>
            </a:stretch>
          </a:blipFill>
        </p:spPr>
      </p:sp>
      <p:sp>
        <p:nvSpPr>
          <p:cNvPr name="TextBox 11" id="11"/>
          <p:cNvSpPr txBox="true"/>
          <p:nvPr/>
        </p:nvSpPr>
        <p:spPr>
          <a:xfrm rot="0">
            <a:off x="3768134" y="508726"/>
            <a:ext cx="12170416" cy="1712612"/>
          </a:xfrm>
          <a:prstGeom prst="rect">
            <a:avLst/>
          </a:prstGeom>
        </p:spPr>
        <p:txBody>
          <a:bodyPr anchor="t" rtlCol="false" tIns="0" lIns="0" bIns="0" rIns="0">
            <a:spAutoFit/>
          </a:bodyPr>
          <a:lstStyle/>
          <a:p>
            <a:pPr algn="ctr">
              <a:lnSpc>
                <a:spcPts val="14057"/>
              </a:lnSpc>
            </a:pPr>
            <a:r>
              <a:rPr lang="en-US" sz="10040">
                <a:solidFill>
                  <a:srgbClr val="FFB3D0"/>
                </a:solidFill>
                <a:latin typeface="Carlsons Script"/>
                <a:ea typeface="Carlsons Script"/>
                <a:cs typeface="Carlsons Script"/>
                <a:sym typeface="Carlsons Script"/>
              </a:rPr>
              <a:t>Analisis Fitur</a:t>
            </a:r>
          </a:p>
        </p:txBody>
      </p:sp>
      <p:sp>
        <p:nvSpPr>
          <p:cNvPr name="TextBox 12" id="12"/>
          <p:cNvSpPr txBox="true"/>
          <p:nvPr/>
        </p:nvSpPr>
        <p:spPr>
          <a:xfrm rot="0">
            <a:off x="6191269" y="2135613"/>
            <a:ext cx="7324145" cy="730069"/>
          </a:xfrm>
          <a:prstGeom prst="rect">
            <a:avLst/>
          </a:prstGeom>
        </p:spPr>
        <p:txBody>
          <a:bodyPr anchor="t" rtlCol="false" tIns="0" lIns="0" bIns="0" rIns="0">
            <a:spAutoFit/>
          </a:bodyPr>
          <a:lstStyle/>
          <a:p>
            <a:pPr algn="l">
              <a:lnSpc>
                <a:spcPts val="5959"/>
              </a:lnSpc>
            </a:pPr>
            <a:r>
              <a:rPr lang="en-US" sz="4257" i="true" b="true">
                <a:solidFill>
                  <a:srgbClr val="FFFFFF"/>
                </a:solidFill>
                <a:latin typeface="Roboto Bold Italics"/>
                <a:ea typeface="Roboto Bold Italics"/>
                <a:cs typeface="Roboto Bold Italics"/>
                <a:sym typeface="Roboto Bold Italics"/>
              </a:rPr>
              <a:t> Koefisien Logistic Regression</a:t>
            </a:r>
          </a:p>
        </p:txBody>
      </p:sp>
      <p:sp>
        <p:nvSpPr>
          <p:cNvPr name="TextBox 13" id="13"/>
          <p:cNvSpPr txBox="true"/>
          <p:nvPr/>
        </p:nvSpPr>
        <p:spPr>
          <a:xfrm rot="0">
            <a:off x="278747" y="3390900"/>
            <a:ext cx="8865253" cy="5867400"/>
          </a:xfrm>
          <a:prstGeom prst="rect">
            <a:avLst/>
          </a:prstGeom>
        </p:spPr>
        <p:txBody>
          <a:bodyPr anchor="t" rtlCol="false" tIns="0" lIns="0" bIns="0" rIns="0">
            <a:spAutoFit/>
          </a:bodyPr>
          <a:lstStyle/>
          <a:p>
            <a:pPr algn="l">
              <a:lnSpc>
                <a:spcPts val="4200"/>
              </a:lnSpc>
            </a:pPr>
            <a:r>
              <a:rPr lang="en-US" sz="3000" i="true">
                <a:solidFill>
                  <a:srgbClr val="FFFFFF"/>
                </a:solidFill>
                <a:latin typeface="Roboto Italics"/>
                <a:ea typeface="Roboto Italics"/>
                <a:cs typeface="Roboto Italics"/>
                <a:sym typeface="Roboto Italics"/>
              </a:rPr>
              <a:t>Dari analisis koefisien Logistic Regression:</a:t>
            </a:r>
          </a:p>
          <a:p>
            <a:pPr algn="l" marL="647700" indent="-323850" lvl="1">
              <a:lnSpc>
                <a:spcPts val="4200"/>
              </a:lnSpc>
              <a:buFont typeface="Arial"/>
              <a:buChar char="•"/>
            </a:pPr>
            <a:r>
              <a:rPr lang="en-US" sz="3000" i="true">
                <a:solidFill>
                  <a:srgbClr val="FFFFFF"/>
                </a:solidFill>
                <a:latin typeface="Roboto Italics"/>
                <a:ea typeface="Roboto Italics"/>
                <a:cs typeface="Roboto Italics"/>
                <a:sym typeface="Roboto Italics"/>
              </a:rPr>
              <a:t>ExerciseAngina, Sex, Oldpeak, FastingBS, Age, dan RestingBP berasosiasi positif dengan risiko penyakit jantung.</a:t>
            </a:r>
          </a:p>
          <a:p>
            <a:pPr algn="l" marL="647700" indent="-323850" lvl="1">
              <a:lnSpc>
                <a:spcPts val="4200"/>
              </a:lnSpc>
              <a:buFont typeface="Arial"/>
              <a:buChar char="•"/>
            </a:pPr>
            <a:r>
              <a:rPr lang="en-US" sz="3000" i="true">
                <a:solidFill>
                  <a:srgbClr val="FFFFFF"/>
                </a:solidFill>
                <a:latin typeface="Roboto Italics"/>
                <a:ea typeface="Roboto Italics"/>
                <a:cs typeface="Roboto Italics"/>
                <a:sym typeface="Roboto Italics"/>
              </a:rPr>
              <a:t>ST_Slope, ChestPainType, Cholesterol, MaxHR, dan RestingECG berasosiasi negatif, artinya peningkatan nilainya justru menurunkan risiko.</a:t>
            </a:r>
          </a:p>
          <a:p>
            <a:pPr algn="l" marL="647700" indent="-323850" lvl="1">
              <a:lnSpc>
                <a:spcPts val="4200"/>
              </a:lnSpc>
              <a:buFont typeface="Arial"/>
              <a:buChar char="•"/>
            </a:pPr>
            <a:r>
              <a:rPr lang="en-US" sz="3000" i="true">
                <a:solidFill>
                  <a:srgbClr val="FFFFFF"/>
                </a:solidFill>
                <a:latin typeface="Roboto Italics"/>
                <a:ea typeface="Roboto Italics"/>
                <a:cs typeface="Roboto Italics"/>
                <a:sym typeface="Roboto Italics"/>
              </a:rPr>
              <a:t>Koefisien positif → meningkatkan risiko; koefisien negatif → menurunkan risiko penyakit jantung.</a:t>
            </a:r>
          </a:p>
          <a:p>
            <a:pPr algn="l">
              <a:lnSpc>
                <a:spcPts val="4200"/>
              </a:lnSpc>
            </a:pP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286089" y="-1832167"/>
            <a:ext cx="7749311" cy="5721735"/>
          </a:xfrm>
          <a:custGeom>
            <a:avLst/>
            <a:gdLst/>
            <a:ahLst/>
            <a:cxnLst/>
            <a:rect r="r" b="b" t="t" l="l"/>
            <a:pathLst>
              <a:path h="5721735" w="7749311">
                <a:moveTo>
                  <a:pt x="0" y="0"/>
                </a:moveTo>
                <a:lnTo>
                  <a:pt x="7749310" y="0"/>
                </a:lnTo>
                <a:lnTo>
                  <a:pt x="7749310" y="5721734"/>
                </a:lnTo>
                <a:lnTo>
                  <a:pt x="0" y="5721734"/>
                </a:lnTo>
                <a:lnTo>
                  <a:pt x="0" y="0"/>
                </a:lnTo>
                <a:close/>
              </a:path>
            </a:pathLst>
          </a:custGeom>
          <a:blipFill>
            <a:blip r:embed="rId3"/>
            <a:stretch>
              <a:fillRect l="0" t="0" r="0" b="0"/>
            </a:stretch>
          </a:blipFill>
        </p:spPr>
      </p:sp>
      <p:sp>
        <p:nvSpPr>
          <p:cNvPr name="Freeform 4" id="4"/>
          <p:cNvSpPr/>
          <p:nvPr/>
        </p:nvSpPr>
        <p:spPr>
          <a:xfrm flipH="false" flipV="true" rot="-2991752">
            <a:off x="-6925632" y="-2674425"/>
            <a:ext cx="9138303" cy="6747303"/>
          </a:xfrm>
          <a:custGeom>
            <a:avLst/>
            <a:gdLst/>
            <a:ahLst/>
            <a:cxnLst/>
            <a:rect r="r" b="b" t="t" l="l"/>
            <a:pathLst>
              <a:path h="6747303" w="9138303">
                <a:moveTo>
                  <a:pt x="0" y="6747303"/>
                </a:moveTo>
                <a:lnTo>
                  <a:pt x="9138303" y="6747303"/>
                </a:lnTo>
                <a:lnTo>
                  <a:pt x="9138303" y="0"/>
                </a:lnTo>
                <a:lnTo>
                  <a:pt x="0" y="0"/>
                </a:lnTo>
                <a:lnTo>
                  <a:pt x="0" y="6747303"/>
                </a:lnTo>
                <a:close/>
              </a:path>
            </a:pathLst>
          </a:custGeom>
          <a:blipFill>
            <a:blip r:embed="rId3"/>
            <a:stretch>
              <a:fillRect l="0" t="0" r="0" b="0"/>
            </a:stretch>
          </a:blipFill>
        </p:spPr>
      </p:sp>
      <p:sp>
        <p:nvSpPr>
          <p:cNvPr name="Freeform 5" id="5"/>
          <p:cNvSpPr/>
          <p:nvPr/>
        </p:nvSpPr>
        <p:spPr>
          <a:xfrm flipH="false" flipV="false" rot="-1570849">
            <a:off x="12308855" y="9681044"/>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45315">
            <a:off x="17114924" y="223067"/>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7278350" y="6157867"/>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88111" y="8849848"/>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2552606" y="885825"/>
            <a:ext cx="13182788" cy="1334352"/>
          </a:xfrm>
          <a:prstGeom prst="rect">
            <a:avLst/>
          </a:prstGeom>
        </p:spPr>
        <p:txBody>
          <a:bodyPr anchor="t" rtlCol="false" tIns="0" lIns="0" bIns="0" rIns="0">
            <a:spAutoFit/>
          </a:bodyPr>
          <a:lstStyle/>
          <a:p>
            <a:pPr algn="ctr">
              <a:lnSpc>
                <a:spcPts val="10978"/>
              </a:lnSpc>
            </a:pPr>
            <a:r>
              <a:rPr lang="en-US" sz="7841">
                <a:solidFill>
                  <a:srgbClr val="FFB3D0"/>
                </a:solidFill>
                <a:latin typeface="Carlsons Script"/>
                <a:ea typeface="Carlsons Script"/>
                <a:cs typeface="Carlsons Script"/>
                <a:sym typeface="Carlsons Script"/>
              </a:rPr>
              <a:t>Kesimpulan &amp; Rekomendasi</a:t>
            </a:r>
          </a:p>
        </p:txBody>
      </p:sp>
      <p:sp>
        <p:nvSpPr>
          <p:cNvPr name="TextBox 11" id="11"/>
          <p:cNvSpPr txBox="true"/>
          <p:nvPr/>
        </p:nvSpPr>
        <p:spPr>
          <a:xfrm rot="0">
            <a:off x="6118721" y="2124927"/>
            <a:ext cx="6868244" cy="812619"/>
          </a:xfrm>
          <a:prstGeom prst="rect">
            <a:avLst/>
          </a:prstGeom>
        </p:spPr>
        <p:txBody>
          <a:bodyPr anchor="t" rtlCol="false" tIns="0" lIns="0" bIns="0" rIns="0">
            <a:spAutoFit/>
          </a:bodyPr>
          <a:lstStyle/>
          <a:p>
            <a:pPr algn="l">
              <a:lnSpc>
                <a:spcPts val="6659"/>
              </a:lnSpc>
            </a:pPr>
            <a:r>
              <a:rPr lang="en-US" sz="4757" i="true" b="true">
                <a:solidFill>
                  <a:srgbClr val="FFFFFF"/>
                </a:solidFill>
                <a:latin typeface="Roboto Bold Italics"/>
                <a:ea typeface="Roboto Bold Italics"/>
                <a:cs typeface="Roboto Bold Italics"/>
                <a:sym typeface="Roboto Bold Italics"/>
              </a:rPr>
              <a:t>Ringkasan Kinerja Model</a:t>
            </a:r>
          </a:p>
        </p:txBody>
      </p:sp>
      <p:sp>
        <p:nvSpPr>
          <p:cNvPr name="TextBox 12" id="12"/>
          <p:cNvSpPr txBox="true"/>
          <p:nvPr/>
        </p:nvSpPr>
        <p:spPr>
          <a:xfrm rot="0">
            <a:off x="1990172" y="3167413"/>
            <a:ext cx="14307656" cy="6383655"/>
          </a:xfrm>
          <a:prstGeom prst="rect">
            <a:avLst/>
          </a:prstGeom>
        </p:spPr>
        <p:txBody>
          <a:bodyPr anchor="t" rtlCol="false" tIns="0" lIns="0" bIns="0" rIns="0">
            <a:spAutoFit/>
          </a:bodyPr>
          <a:lstStyle/>
          <a:p>
            <a:pPr algn="just" marL="712472" indent="-356236" lvl="1">
              <a:lnSpc>
                <a:spcPts val="4620"/>
              </a:lnSpc>
              <a:buAutoNum type="arabicPeriod" startAt="1"/>
            </a:pPr>
            <a:r>
              <a:rPr lang="en-US" sz="3300" i="true">
                <a:solidFill>
                  <a:srgbClr val="FFFFFF"/>
                </a:solidFill>
                <a:latin typeface="Roboto Italics"/>
                <a:ea typeface="Roboto Italics"/>
                <a:cs typeface="Roboto Italics"/>
                <a:sym typeface="Roboto Italics"/>
              </a:rPr>
              <a:t>Logistic Regression mencapai akurasi tertinggi (84,78%) dan menunjukkan kinerja terbaik secara keseluruhan untuk semua metrik.</a:t>
            </a:r>
          </a:p>
          <a:p>
            <a:pPr algn="just" marL="712472" indent="-356236" lvl="1">
              <a:lnSpc>
                <a:spcPts val="4620"/>
              </a:lnSpc>
              <a:buAutoNum type="arabicPeriod" startAt="1"/>
            </a:pPr>
            <a:r>
              <a:rPr lang="en-US" sz="3300" i="true">
                <a:solidFill>
                  <a:srgbClr val="FFFFFF"/>
                </a:solidFill>
                <a:latin typeface="Roboto Italics"/>
                <a:ea typeface="Roboto Italics"/>
                <a:cs typeface="Roboto Italics"/>
                <a:sym typeface="Roboto Italics"/>
              </a:rPr>
              <a:t>Naïve Bayes memberikan kinerja kedua terbaik dengan akurasi 84,24%.</a:t>
            </a:r>
          </a:p>
          <a:p>
            <a:pPr algn="just" marL="712472" indent="-356236" lvl="1">
              <a:lnSpc>
                <a:spcPts val="4620"/>
              </a:lnSpc>
              <a:buAutoNum type="arabicPeriod" startAt="1"/>
            </a:pPr>
            <a:r>
              <a:rPr lang="en-US" sz="3300" i="true">
                <a:solidFill>
                  <a:srgbClr val="FFFFFF"/>
                </a:solidFill>
                <a:latin typeface="Roboto Italics"/>
                <a:ea typeface="Roboto Italics"/>
                <a:cs typeface="Roboto Italics"/>
                <a:sym typeface="Roboto Italics"/>
              </a:rPr>
              <a:t>KNN dengan K optimal=13 menunjukkan kinerja yang baik dengan akurasi 83,15%.</a:t>
            </a:r>
          </a:p>
          <a:p>
            <a:pPr algn="just" marL="712472" indent="-356236" lvl="1">
              <a:lnSpc>
                <a:spcPts val="4620"/>
              </a:lnSpc>
              <a:buAutoNum type="arabicPeriod" startAt="1"/>
            </a:pPr>
            <a:r>
              <a:rPr lang="en-US" sz="3300" i="true">
                <a:solidFill>
                  <a:srgbClr val="FFFFFF"/>
                </a:solidFill>
                <a:latin typeface="Roboto Italics"/>
                <a:ea typeface="Roboto Italics"/>
                <a:cs typeface="Roboto Italics"/>
                <a:sym typeface="Roboto Italics"/>
              </a:rPr>
              <a:t>Decision Tree memiliki akurasi terendah yaitu 78,26%, menunjukkan kemungkinan masalah overfitting.</a:t>
            </a:r>
          </a:p>
          <a:p>
            <a:pPr algn="just">
              <a:lnSpc>
                <a:spcPts val="4620"/>
              </a:lnSpc>
            </a:pPr>
            <a:r>
              <a:rPr lang="en-US" sz="3300" i="true">
                <a:solidFill>
                  <a:srgbClr val="FFFFFF"/>
                </a:solidFill>
                <a:latin typeface="Roboto Italics"/>
                <a:ea typeface="Roboto Italics"/>
                <a:cs typeface="Roboto Italics"/>
                <a:sym typeface="Roboto Italics"/>
              </a:rPr>
              <a:t>Dari hasil analisis ini, Logistic Regression adalah model yang paling direkomendasikan untuk implementasi karena memiliki keseimbangan terbaik antara akurasi dan interpretabilitas.</a:t>
            </a:r>
          </a:p>
          <a:p>
            <a:pPr algn="just">
              <a:lnSpc>
                <a:spcPts val="4620"/>
              </a:lnSpc>
            </a:pP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286089" y="-1832167"/>
            <a:ext cx="7749311" cy="5721735"/>
          </a:xfrm>
          <a:custGeom>
            <a:avLst/>
            <a:gdLst/>
            <a:ahLst/>
            <a:cxnLst/>
            <a:rect r="r" b="b" t="t" l="l"/>
            <a:pathLst>
              <a:path h="5721735" w="7749311">
                <a:moveTo>
                  <a:pt x="0" y="0"/>
                </a:moveTo>
                <a:lnTo>
                  <a:pt x="7749310" y="0"/>
                </a:lnTo>
                <a:lnTo>
                  <a:pt x="7749310" y="5721734"/>
                </a:lnTo>
                <a:lnTo>
                  <a:pt x="0" y="5721734"/>
                </a:lnTo>
                <a:lnTo>
                  <a:pt x="0" y="0"/>
                </a:lnTo>
                <a:close/>
              </a:path>
            </a:pathLst>
          </a:custGeom>
          <a:blipFill>
            <a:blip r:embed="rId3"/>
            <a:stretch>
              <a:fillRect l="0" t="0" r="0" b="0"/>
            </a:stretch>
          </a:blipFill>
        </p:spPr>
      </p:sp>
      <p:sp>
        <p:nvSpPr>
          <p:cNvPr name="Freeform 4" id="4"/>
          <p:cNvSpPr/>
          <p:nvPr/>
        </p:nvSpPr>
        <p:spPr>
          <a:xfrm flipH="false" flipV="true" rot="-2991752">
            <a:off x="-6925632" y="-2674425"/>
            <a:ext cx="9138303" cy="6747303"/>
          </a:xfrm>
          <a:custGeom>
            <a:avLst/>
            <a:gdLst/>
            <a:ahLst/>
            <a:cxnLst/>
            <a:rect r="r" b="b" t="t" l="l"/>
            <a:pathLst>
              <a:path h="6747303" w="9138303">
                <a:moveTo>
                  <a:pt x="0" y="6747303"/>
                </a:moveTo>
                <a:lnTo>
                  <a:pt x="9138303" y="6747303"/>
                </a:lnTo>
                <a:lnTo>
                  <a:pt x="9138303" y="0"/>
                </a:lnTo>
                <a:lnTo>
                  <a:pt x="0" y="0"/>
                </a:lnTo>
                <a:lnTo>
                  <a:pt x="0" y="6747303"/>
                </a:lnTo>
                <a:close/>
              </a:path>
            </a:pathLst>
          </a:custGeom>
          <a:blipFill>
            <a:blip r:embed="rId3"/>
            <a:stretch>
              <a:fillRect l="0" t="0" r="0" b="0"/>
            </a:stretch>
          </a:blipFill>
        </p:spPr>
      </p:sp>
      <p:sp>
        <p:nvSpPr>
          <p:cNvPr name="Freeform 5" id="5"/>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845315">
            <a:off x="17114924" y="223067"/>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7259300" y="9258300"/>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73740" y="9258300"/>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2552606" y="885825"/>
            <a:ext cx="13182788" cy="1334352"/>
          </a:xfrm>
          <a:prstGeom prst="rect">
            <a:avLst/>
          </a:prstGeom>
        </p:spPr>
        <p:txBody>
          <a:bodyPr anchor="t" rtlCol="false" tIns="0" lIns="0" bIns="0" rIns="0">
            <a:spAutoFit/>
          </a:bodyPr>
          <a:lstStyle/>
          <a:p>
            <a:pPr algn="ctr">
              <a:lnSpc>
                <a:spcPts val="10978"/>
              </a:lnSpc>
            </a:pPr>
            <a:r>
              <a:rPr lang="en-US" sz="7841">
                <a:solidFill>
                  <a:srgbClr val="FFB3D0"/>
                </a:solidFill>
                <a:latin typeface="Carlsons Script"/>
                <a:ea typeface="Carlsons Script"/>
                <a:cs typeface="Carlsons Script"/>
                <a:sym typeface="Carlsons Script"/>
              </a:rPr>
              <a:t>Kesimpulan &amp; Rekomendasi</a:t>
            </a:r>
          </a:p>
        </p:txBody>
      </p:sp>
      <p:sp>
        <p:nvSpPr>
          <p:cNvPr name="TextBox 10" id="10"/>
          <p:cNvSpPr txBox="true"/>
          <p:nvPr/>
        </p:nvSpPr>
        <p:spPr>
          <a:xfrm rot="0">
            <a:off x="6878000" y="2115402"/>
            <a:ext cx="4532000" cy="871674"/>
          </a:xfrm>
          <a:prstGeom prst="rect">
            <a:avLst/>
          </a:prstGeom>
        </p:spPr>
        <p:txBody>
          <a:bodyPr anchor="t" rtlCol="false" tIns="0" lIns="0" bIns="0" rIns="0">
            <a:spAutoFit/>
          </a:bodyPr>
          <a:lstStyle/>
          <a:p>
            <a:pPr algn="l">
              <a:lnSpc>
                <a:spcPts val="7079"/>
              </a:lnSpc>
            </a:pPr>
            <a:r>
              <a:rPr lang="en-US" sz="5057" i="true" b="true">
                <a:solidFill>
                  <a:srgbClr val="FFFFFF"/>
                </a:solidFill>
                <a:latin typeface="Roboto Bold Italics"/>
                <a:ea typeface="Roboto Bold Italics"/>
                <a:cs typeface="Roboto Bold Italics"/>
                <a:sym typeface="Roboto Bold Italics"/>
              </a:rPr>
              <a:t>Implikasi Klinis</a:t>
            </a:r>
          </a:p>
        </p:txBody>
      </p:sp>
      <p:sp>
        <p:nvSpPr>
          <p:cNvPr name="TextBox 11" id="11"/>
          <p:cNvSpPr txBox="true"/>
          <p:nvPr/>
        </p:nvSpPr>
        <p:spPr>
          <a:xfrm rot="0">
            <a:off x="2552606" y="3129350"/>
            <a:ext cx="12931370" cy="6026419"/>
          </a:xfrm>
          <a:prstGeom prst="rect">
            <a:avLst/>
          </a:prstGeom>
        </p:spPr>
        <p:txBody>
          <a:bodyPr anchor="t" rtlCol="false" tIns="0" lIns="0" bIns="0" rIns="0">
            <a:spAutoFit/>
          </a:bodyPr>
          <a:lstStyle/>
          <a:p>
            <a:pPr algn="just">
              <a:lnSpc>
                <a:spcPts val="3980"/>
              </a:lnSpc>
            </a:pPr>
            <a:r>
              <a:rPr lang="en-US" sz="2843" i="true">
                <a:solidFill>
                  <a:srgbClr val="FFFFFF"/>
                </a:solidFill>
                <a:latin typeface="Roboto Italics"/>
                <a:ea typeface="Roboto Italics"/>
                <a:cs typeface="Roboto Italics"/>
                <a:sym typeface="Roboto Italics"/>
              </a:rPr>
              <a:t>Kekuatan prediktif dari fitur-fitur seperti ST_Slope, MaxHR, dan Cholesterol sesuai dengan literatur medis tentang faktor risiko penyakit jantung. Temuan ini dapat membantu penyedia layanan kesehatan untuk fokus pada indikator utama selama penilaian pasien.</a:t>
            </a:r>
          </a:p>
          <a:p>
            <a:pPr algn="just">
              <a:lnSpc>
                <a:spcPts val="3980"/>
              </a:lnSpc>
            </a:pPr>
            <a:r>
              <a:rPr lang="en-US" sz="2843" i="true">
                <a:solidFill>
                  <a:srgbClr val="FFFFFF"/>
                </a:solidFill>
                <a:latin typeface="Roboto Italics"/>
                <a:ea typeface="Roboto Italics"/>
                <a:cs typeface="Roboto Italics"/>
                <a:sym typeface="Roboto Italics"/>
              </a:rPr>
              <a:t>Impl</a:t>
            </a:r>
            <a:r>
              <a:rPr lang="en-US" sz="2843" i="true">
                <a:solidFill>
                  <a:srgbClr val="FFFFFF"/>
                </a:solidFill>
                <a:latin typeface="Roboto Italics"/>
                <a:ea typeface="Roboto Italics"/>
                <a:cs typeface="Roboto Italics"/>
                <a:sym typeface="Roboto Italics"/>
              </a:rPr>
              <a:t>ikasi klinis dari model ini termasuk:</a:t>
            </a:r>
          </a:p>
          <a:p>
            <a:pPr algn="just" marL="613865" indent="-306933" lvl="1">
              <a:lnSpc>
                <a:spcPts val="3980"/>
              </a:lnSpc>
              <a:buFont typeface="Arial"/>
              <a:buChar char="•"/>
            </a:pPr>
            <a:r>
              <a:rPr lang="en-US" sz="2843" i="true">
                <a:solidFill>
                  <a:srgbClr val="FFFFFF"/>
                </a:solidFill>
                <a:latin typeface="Roboto Italics"/>
                <a:ea typeface="Roboto Italics"/>
                <a:cs typeface="Roboto Italics"/>
                <a:sym typeface="Roboto Italics"/>
              </a:rPr>
              <a:t>Kemampuan untuk melakukan penilaian risiko awal berdasarkan parameter klinis yang mudah diukur</a:t>
            </a:r>
          </a:p>
          <a:p>
            <a:pPr algn="just" marL="613865" indent="-306933" lvl="1">
              <a:lnSpc>
                <a:spcPts val="3980"/>
              </a:lnSpc>
              <a:buFont typeface="Arial"/>
              <a:buChar char="•"/>
            </a:pPr>
            <a:r>
              <a:rPr lang="en-US" sz="2843" i="true">
                <a:solidFill>
                  <a:srgbClr val="FFFFFF"/>
                </a:solidFill>
                <a:latin typeface="Roboto Italics"/>
                <a:ea typeface="Roboto Italics"/>
                <a:cs typeface="Roboto Italics"/>
                <a:sym typeface="Roboto Italics"/>
              </a:rPr>
              <a:t>Potensi untuk mengidentifikasi pasien yang mungkin memerlukan pemeriksaan lebih lanjut</a:t>
            </a:r>
          </a:p>
          <a:p>
            <a:pPr algn="just" marL="613865" indent="-306933" lvl="1">
              <a:lnSpc>
                <a:spcPts val="3980"/>
              </a:lnSpc>
              <a:buFont typeface="Arial"/>
              <a:buChar char="•"/>
            </a:pPr>
            <a:r>
              <a:rPr lang="en-US" sz="2843" i="true">
                <a:solidFill>
                  <a:srgbClr val="FFFFFF"/>
                </a:solidFill>
                <a:latin typeface="Roboto Italics"/>
                <a:ea typeface="Roboto Italics"/>
                <a:cs typeface="Roboto Italics"/>
                <a:sym typeface="Roboto Italics"/>
              </a:rPr>
              <a:t>Alat pendukung keputusan klinis yang dapat membantu dokter dalam mendiagnosis penyakit jantung</a:t>
            </a:r>
          </a:p>
          <a:p>
            <a:pPr algn="just">
              <a:lnSpc>
                <a:spcPts val="3980"/>
              </a:lnSpc>
            </a:pP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286089" y="-1832167"/>
            <a:ext cx="7749311" cy="5721735"/>
          </a:xfrm>
          <a:custGeom>
            <a:avLst/>
            <a:gdLst/>
            <a:ahLst/>
            <a:cxnLst/>
            <a:rect r="r" b="b" t="t" l="l"/>
            <a:pathLst>
              <a:path h="5721735" w="7749311">
                <a:moveTo>
                  <a:pt x="0" y="0"/>
                </a:moveTo>
                <a:lnTo>
                  <a:pt x="7749310" y="0"/>
                </a:lnTo>
                <a:lnTo>
                  <a:pt x="7749310" y="5721734"/>
                </a:lnTo>
                <a:lnTo>
                  <a:pt x="0" y="5721734"/>
                </a:lnTo>
                <a:lnTo>
                  <a:pt x="0" y="0"/>
                </a:lnTo>
                <a:close/>
              </a:path>
            </a:pathLst>
          </a:custGeom>
          <a:blipFill>
            <a:blip r:embed="rId3"/>
            <a:stretch>
              <a:fillRect l="0" t="0" r="0" b="0"/>
            </a:stretch>
          </a:blipFill>
        </p:spPr>
      </p:sp>
      <p:sp>
        <p:nvSpPr>
          <p:cNvPr name="Freeform 4" id="4"/>
          <p:cNvSpPr/>
          <p:nvPr/>
        </p:nvSpPr>
        <p:spPr>
          <a:xfrm flipH="false" flipV="true" rot="-2991752">
            <a:off x="-6925632" y="-2674425"/>
            <a:ext cx="9138303" cy="6747303"/>
          </a:xfrm>
          <a:custGeom>
            <a:avLst/>
            <a:gdLst/>
            <a:ahLst/>
            <a:cxnLst/>
            <a:rect r="r" b="b" t="t" l="l"/>
            <a:pathLst>
              <a:path h="6747303" w="9138303">
                <a:moveTo>
                  <a:pt x="0" y="6747303"/>
                </a:moveTo>
                <a:lnTo>
                  <a:pt x="9138303" y="6747303"/>
                </a:lnTo>
                <a:lnTo>
                  <a:pt x="9138303" y="0"/>
                </a:lnTo>
                <a:lnTo>
                  <a:pt x="0" y="0"/>
                </a:lnTo>
                <a:lnTo>
                  <a:pt x="0" y="6747303"/>
                </a:lnTo>
                <a:close/>
              </a:path>
            </a:pathLst>
          </a:custGeom>
          <a:blipFill>
            <a:blip r:embed="rId3"/>
            <a:stretch>
              <a:fillRect l="0" t="0" r="0" b="0"/>
            </a:stretch>
          </a:blipFill>
        </p:spPr>
      </p:sp>
      <p:sp>
        <p:nvSpPr>
          <p:cNvPr name="Freeform 5" id="5"/>
          <p:cNvSpPr/>
          <p:nvPr/>
        </p:nvSpPr>
        <p:spPr>
          <a:xfrm flipH="false" flipV="false" rot="-1570849">
            <a:off x="12308855" y="9681044"/>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45315">
            <a:off x="17114924" y="223067"/>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7278350" y="6157867"/>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88111" y="8849848"/>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2552606" y="885825"/>
            <a:ext cx="13182788" cy="1334352"/>
          </a:xfrm>
          <a:prstGeom prst="rect">
            <a:avLst/>
          </a:prstGeom>
        </p:spPr>
        <p:txBody>
          <a:bodyPr anchor="t" rtlCol="false" tIns="0" lIns="0" bIns="0" rIns="0">
            <a:spAutoFit/>
          </a:bodyPr>
          <a:lstStyle/>
          <a:p>
            <a:pPr algn="ctr">
              <a:lnSpc>
                <a:spcPts val="10978"/>
              </a:lnSpc>
            </a:pPr>
            <a:r>
              <a:rPr lang="en-US" sz="7841">
                <a:solidFill>
                  <a:srgbClr val="FFB3D0"/>
                </a:solidFill>
                <a:latin typeface="Carlsons Script"/>
                <a:ea typeface="Carlsons Script"/>
                <a:cs typeface="Carlsons Script"/>
                <a:sym typeface="Carlsons Script"/>
              </a:rPr>
              <a:t>Kesimpulan &amp; Rekomendasi</a:t>
            </a:r>
          </a:p>
        </p:txBody>
      </p:sp>
      <p:sp>
        <p:nvSpPr>
          <p:cNvPr name="TextBox 11" id="11"/>
          <p:cNvSpPr txBox="true"/>
          <p:nvPr/>
        </p:nvSpPr>
        <p:spPr>
          <a:xfrm rot="0">
            <a:off x="6118721" y="2115402"/>
            <a:ext cx="5972684" cy="871674"/>
          </a:xfrm>
          <a:prstGeom prst="rect">
            <a:avLst/>
          </a:prstGeom>
        </p:spPr>
        <p:txBody>
          <a:bodyPr anchor="t" rtlCol="false" tIns="0" lIns="0" bIns="0" rIns="0">
            <a:spAutoFit/>
          </a:bodyPr>
          <a:lstStyle/>
          <a:p>
            <a:pPr algn="l">
              <a:lnSpc>
                <a:spcPts val="7079"/>
              </a:lnSpc>
            </a:pPr>
            <a:r>
              <a:rPr lang="en-US" sz="5057" i="true" b="true">
                <a:solidFill>
                  <a:srgbClr val="FFFFFF"/>
                </a:solidFill>
                <a:latin typeface="Roboto Bold Italics"/>
                <a:ea typeface="Roboto Bold Italics"/>
                <a:cs typeface="Roboto Bold Italics"/>
                <a:sym typeface="Roboto Bold Italics"/>
              </a:rPr>
              <a:t> Keterbatasan Model</a:t>
            </a:r>
          </a:p>
        </p:txBody>
      </p:sp>
      <p:sp>
        <p:nvSpPr>
          <p:cNvPr name="TextBox 12" id="12"/>
          <p:cNvSpPr txBox="true"/>
          <p:nvPr/>
        </p:nvSpPr>
        <p:spPr>
          <a:xfrm rot="0">
            <a:off x="1661362" y="3652453"/>
            <a:ext cx="14074032" cy="5343525"/>
          </a:xfrm>
          <a:prstGeom prst="rect">
            <a:avLst/>
          </a:prstGeom>
        </p:spPr>
        <p:txBody>
          <a:bodyPr anchor="t" rtlCol="false" tIns="0" lIns="0" bIns="0" rIns="0">
            <a:spAutoFit/>
          </a:bodyPr>
          <a:lstStyle/>
          <a:p>
            <a:pPr algn="just">
              <a:lnSpc>
                <a:spcPts val="5250"/>
              </a:lnSpc>
            </a:pPr>
            <a:r>
              <a:rPr lang="en-US" sz="3500" i="true">
                <a:solidFill>
                  <a:srgbClr val="FFFFFF"/>
                </a:solidFill>
                <a:latin typeface="Roboto Italics"/>
                <a:ea typeface="Roboto Italics"/>
                <a:cs typeface="Roboto Italics"/>
                <a:sym typeface="Roboto Italics"/>
              </a:rPr>
              <a:t>Meskipun model-model ini menunjukkan kinerja yang baik, ada beberapa keterbatasan yang perlu diperhatikan:</a:t>
            </a:r>
          </a:p>
          <a:p>
            <a:pPr algn="just" marL="755651" indent="-377825" lvl="1">
              <a:lnSpc>
                <a:spcPts val="5250"/>
              </a:lnSpc>
              <a:buFont typeface="Arial"/>
              <a:buChar char="•"/>
            </a:pPr>
            <a:r>
              <a:rPr lang="en-US" sz="3500" i="true">
                <a:solidFill>
                  <a:srgbClr val="FFFFFF"/>
                </a:solidFill>
                <a:latin typeface="Roboto Italics"/>
                <a:ea typeface="Roboto Italics"/>
                <a:cs typeface="Roboto Italics"/>
                <a:sym typeface="Roboto Italics"/>
              </a:rPr>
              <a:t>D</a:t>
            </a:r>
            <a:r>
              <a:rPr lang="en-US" sz="3500" i="true">
                <a:solidFill>
                  <a:srgbClr val="FFFFFF"/>
                </a:solidFill>
                <a:latin typeface="Roboto Italics"/>
                <a:ea typeface="Roboto Italics"/>
                <a:cs typeface="Roboto Italics"/>
                <a:sym typeface="Roboto Italics"/>
              </a:rPr>
              <a:t>ataset yang digunakan memiliki ukuran sedang; model mungkin mendapatkan manfaat dari data yang lebih banyak</a:t>
            </a:r>
          </a:p>
          <a:p>
            <a:pPr algn="just" marL="755651" indent="-377825" lvl="1">
              <a:lnSpc>
                <a:spcPts val="5250"/>
              </a:lnSpc>
              <a:buFont typeface="Arial"/>
              <a:buChar char="•"/>
            </a:pPr>
            <a:r>
              <a:rPr lang="en-US" sz="3500" i="true">
                <a:solidFill>
                  <a:srgbClr val="FFFFFF"/>
                </a:solidFill>
                <a:latin typeface="Roboto Italics"/>
                <a:ea typeface="Roboto Italics"/>
                <a:cs typeface="Roboto Italics"/>
                <a:sym typeface="Roboto Italics"/>
              </a:rPr>
              <a:t>Beberapa fitur kategorikal diubah menjadi bentuk numerik menggunakan label encoding, yang mungkin tidak selalu mewakili hubungan yang tepat</a:t>
            </a:r>
          </a:p>
          <a:p>
            <a:pPr algn="just">
              <a:lnSpc>
                <a:spcPts val="5250"/>
              </a:lnSpc>
            </a:pP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6950277">
            <a:off x="15286089" y="-1832167"/>
            <a:ext cx="7749311" cy="5721735"/>
          </a:xfrm>
          <a:custGeom>
            <a:avLst/>
            <a:gdLst/>
            <a:ahLst/>
            <a:cxnLst/>
            <a:rect r="r" b="b" t="t" l="l"/>
            <a:pathLst>
              <a:path h="5721735" w="7749311">
                <a:moveTo>
                  <a:pt x="0" y="0"/>
                </a:moveTo>
                <a:lnTo>
                  <a:pt x="7749310" y="0"/>
                </a:lnTo>
                <a:lnTo>
                  <a:pt x="7749310" y="5721734"/>
                </a:lnTo>
                <a:lnTo>
                  <a:pt x="0" y="5721734"/>
                </a:lnTo>
                <a:lnTo>
                  <a:pt x="0" y="0"/>
                </a:lnTo>
                <a:close/>
              </a:path>
            </a:pathLst>
          </a:custGeom>
          <a:blipFill>
            <a:blip r:embed="rId3"/>
            <a:stretch>
              <a:fillRect l="0" t="0" r="0" b="0"/>
            </a:stretch>
          </a:blipFill>
        </p:spPr>
      </p:sp>
      <p:sp>
        <p:nvSpPr>
          <p:cNvPr name="Freeform 4" id="4"/>
          <p:cNvSpPr/>
          <p:nvPr/>
        </p:nvSpPr>
        <p:spPr>
          <a:xfrm flipH="false" flipV="true" rot="-2991752">
            <a:off x="-6925632" y="-2674425"/>
            <a:ext cx="9138303" cy="6747303"/>
          </a:xfrm>
          <a:custGeom>
            <a:avLst/>
            <a:gdLst/>
            <a:ahLst/>
            <a:cxnLst/>
            <a:rect r="r" b="b" t="t" l="l"/>
            <a:pathLst>
              <a:path h="6747303" w="9138303">
                <a:moveTo>
                  <a:pt x="0" y="6747303"/>
                </a:moveTo>
                <a:lnTo>
                  <a:pt x="9138303" y="6747303"/>
                </a:lnTo>
                <a:lnTo>
                  <a:pt x="9138303" y="0"/>
                </a:lnTo>
                <a:lnTo>
                  <a:pt x="0" y="0"/>
                </a:lnTo>
                <a:lnTo>
                  <a:pt x="0" y="6747303"/>
                </a:lnTo>
                <a:close/>
              </a:path>
            </a:pathLst>
          </a:custGeom>
          <a:blipFill>
            <a:blip r:embed="rId3"/>
            <a:stretch>
              <a:fillRect l="0" t="0" r="0" b="0"/>
            </a:stretch>
          </a:blipFill>
        </p:spPr>
      </p:sp>
      <p:sp>
        <p:nvSpPr>
          <p:cNvPr name="Freeform 5" id="5"/>
          <p:cNvSpPr/>
          <p:nvPr/>
        </p:nvSpPr>
        <p:spPr>
          <a:xfrm flipH="false" flipV="false" rot="-1570849">
            <a:off x="12308855" y="9681044"/>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4"/>
            <a:stretch>
              <a:fillRect l="0" t="0" r="0" b="0"/>
            </a:stretch>
          </a:blipFill>
        </p:spPr>
      </p:sp>
      <p:sp>
        <p:nvSpPr>
          <p:cNvPr name="Freeform 6" id="6"/>
          <p:cNvSpPr/>
          <p:nvPr/>
        </p:nvSpPr>
        <p:spPr>
          <a:xfrm flipH="false" flipV="false" rot="0">
            <a:off x="3768134" y="1913433"/>
            <a:ext cx="786978" cy="786978"/>
          </a:xfrm>
          <a:custGeom>
            <a:avLst/>
            <a:gdLst/>
            <a:ahLst/>
            <a:cxnLst/>
            <a:rect r="r" b="b" t="t" l="l"/>
            <a:pathLst>
              <a:path h="786978" w="786978">
                <a:moveTo>
                  <a:pt x="0" y="0"/>
                </a:moveTo>
                <a:lnTo>
                  <a:pt x="786978" y="0"/>
                </a:lnTo>
                <a:lnTo>
                  <a:pt x="786978" y="786977"/>
                </a:lnTo>
                <a:lnTo>
                  <a:pt x="0" y="78697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7" id="7"/>
          <p:cNvSpPr/>
          <p:nvPr/>
        </p:nvSpPr>
        <p:spPr>
          <a:xfrm flipH="false" flipV="false" rot="845315">
            <a:off x="17114924" y="223067"/>
            <a:ext cx="1073310" cy="952319"/>
          </a:xfrm>
          <a:custGeom>
            <a:avLst/>
            <a:gdLst/>
            <a:ahLst/>
            <a:cxnLst/>
            <a:rect r="r" b="b" t="t" l="l"/>
            <a:pathLst>
              <a:path h="952319" w="1073310">
                <a:moveTo>
                  <a:pt x="0" y="0"/>
                </a:moveTo>
                <a:lnTo>
                  <a:pt x="1073311" y="0"/>
                </a:lnTo>
                <a:lnTo>
                  <a:pt x="1073311" y="952319"/>
                </a:lnTo>
                <a:lnTo>
                  <a:pt x="0" y="952319"/>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8" id="8"/>
          <p:cNvSpPr/>
          <p:nvPr/>
        </p:nvSpPr>
        <p:spPr>
          <a:xfrm flipH="false" flipV="false" rot="0">
            <a:off x="17278350" y="6157867"/>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9" id="9"/>
          <p:cNvSpPr/>
          <p:nvPr/>
        </p:nvSpPr>
        <p:spPr>
          <a:xfrm flipH="false" flipV="false" rot="0">
            <a:off x="188111" y="8849848"/>
            <a:ext cx="1402440" cy="1402440"/>
          </a:xfrm>
          <a:custGeom>
            <a:avLst/>
            <a:gdLst/>
            <a:ahLst/>
            <a:cxnLst/>
            <a:rect r="r" b="b" t="t" l="l"/>
            <a:pathLst>
              <a:path h="1402440" w="1402440">
                <a:moveTo>
                  <a:pt x="0" y="0"/>
                </a:moveTo>
                <a:lnTo>
                  <a:pt x="1402440" y="0"/>
                </a:lnTo>
                <a:lnTo>
                  <a:pt x="1402440" y="1402440"/>
                </a:lnTo>
                <a:lnTo>
                  <a:pt x="0" y="140244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2552606" y="885825"/>
            <a:ext cx="13182788" cy="1334352"/>
          </a:xfrm>
          <a:prstGeom prst="rect">
            <a:avLst/>
          </a:prstGeom>
        </p:spPr>
        <p:txBody>
          <a:bodyPr anchor="t" rtlCol="false" tIns="0" lIns="0" bIns="0" rIns="0">
            <a:spAutoFit/>
          </a:bodyPr>
          <a:lstStyle/>
          <a:p>
            <a:pPr algn="ctr">
              <a:lnSpc>
                <a:spcPts val="10978"/>
              </a:lnSpc>
            </a:pPr>
            <a:r>
              <a:rPr lang="en-US" sz="7841">
                <a:solidFill>
                  <a:srgbClr val="FFB3D0"/>
                </a:solidFill>
                <a:latin typeface="Carlsons Script"/>
                <a:ea typeface="Carlsons Script"/>
                <a:cs typeface="Carlsons Script"/>
                <a:sym typeface="Carlsons Script"/>
              </a:rPr>
              <a:t>Kesimpulan &amp; Rekomendasi</a:t>
            </a:r>
          </a:p>
        </p:txBody>
      </p:sp>
      <p:sp>
        <p:nvSpPr>
          <p:cNvPr name="TextBox 11" id="11"/>
          <p:cNvSpPr txBox="true"/>
          <p:nvPr/>
        </p:nvSpPr>
        <p:spPr>
          <a:xfrm rot="0">
            <a:off x="7185738" y="2192622"/>
            <a:ext cx="3025279" cy="937715"/>
          </a:xfrm>
          <a:prstGeom prst="rect">
            <a:avLst/>
          </a:prstGeom>
        </p:spPr>
        <p:txBody>
          <a:bodyPr anchor="t" rtlCol="false" tIns="0" lIns="0" bIns="0" rIns="0">
            <a:spAutoFit/>
          </a:bodyPr>
          <a:lstStyle/>
          <a:p>
            <a:pPr algn="l">
              <a:lnSpc>
                <a:spcPts val="7639"/>
              </a:lnSpc>
            </a:pPr>
            <a:r>
              <a:rPr lang="en-US" sz="5457" i="true" b="true">
                <a:solidFill>
                  <a:srgbClr val="FFFFFF"/>
                </a:solidFill>
                <a:latin typeface="Roboto Bold Italics"/>
                <a:ea typeface="Roboto Bold Italics"/>
                <a:cs typeface="Roboto Bold Italics"/>
                <a:sym typeface="Roboto Bold Italics"/>
              </a:rPr>
              <a:t>Referensi</a:t>
            </a:r>
          </a:p>
        </p:txBody>
      </p:sp>
      <p:sp>
        <p:nvSpPr>
          <p:cNvPr name="TextBox 12" id="12"/>
          <p:cNvSpPr txBox="true"/>
          <p:nvPr/>
        </p:nvSpPr>
        <p:spPr>
          <a:xfrm rot="0">
            <a:off x="1661362" y="3652453"/>
            <a:ext cx="14074032" cy="5372100"/>
          </a:xfrm>
          <a:prstGeom prst="rect">
            <a:avLst/>
          </a:prstGeom>
        </p:spPr>
        <p:txBody>
          <a:bodyPr anchor="t" rtlCol="false" tIns="0" lIns="0" bIns="0" rIns="0">
            <a:spAutoFit/>
          </a:bodyPr>
          <a:lstStyle/>
          <a:p>
            <a:pPr algn="just" marL="755651" indent="-377825" lvl="1">
              <a:lnSpc>
                <a:spcPts val="5250"/>
              </a:lnSpc>
              <a:buFont typeface="Arial"/>
              <a:buChar char="•"/>
            </a:pPr>
            <a:r>
              <a:rPr lang="en-US" b="true" sz="3500" i="true">
                <a:solidFill>
                  <a:srgbClr val="FFFFFF"/>
                </a:solidFill>
                <a:latin typeface="Roboto Bold Italics"/>
                <a:ea typeface="Roboto Bold Italics"/>
                <a:cs typeface="Roboto Bold Italics"/>
                <a:sym typeface="Roboto Bold Italics"/>
              </a:rPr>
              <a:t>Library Python yang digunakan: NumPy, Pandas, Matplotlib, Seaborn, Scikit-learn</a:t>
            </a:r>
          </a:p>
          <a:p>
            <a:pPr algn="just" marL="755651" indent="-377825" lvl="1">
              <a:lnSpc>
                <a:spcPts val="5250"/>
              </a:lnSpc>
              <a:buFont typeface="Arial"/>
              <a:buChar char="•"/>
            </a:pPr>
            <a:r>
              <a:rPr lang="en-US" b="true" sz="3500" i="true">
                <a:solidFill>
                  <a:srgbClr val="FFFFFF"/>
                </a:solidFill>
                <a:latin typeface="Roboto Bold Italics"/>
                <a:ea typeface="Roboto Bold Italics"/>
                <a:cs typeface="Roboto Bold Italics"/>
                <a:sym typeface="Roboto Bold Italics"/>
              </a:rPr>
              <a:t>Sumber dataset: </a:t>
            </a:r>
            <a:r>
              <a:rPr lang="en-US" b="true" sz="3500" i="true" u="sng">
                <a:solidFill>
                  <a:srgbClr val="FFFFFF"/>
                </a:solidFill>
                <a:latin typeface="Roboto Bold Italics"/>
                <a:ea typeface="Roboto Bold Italics"/>
                <a:cs typeface="Roboto Bold Italics"/>
                <a:sym typeface="Roboto Bold Italics"/>
                <a:hlinkClick r:id="rId11" tooltip="https://www.kaggle.com/datasets/fedesoriano/heart-failure-prediction"/>
              </a:rPr>
              <a:t>Heart Failure Prediction </a:t>
            </a:r>
            <a:r>
              <a:rPr lang="en-US" b="true" sz="3500" i="true" u="sng">
                <a:solidFill>
                  <a:srgbClr val="FFFFFF"/>
                </a:solidFill>
                <a:latin typeface="Roboto Bold Italics"/>
                <a:ea typeface="Roboto Bold Italics"/>
                <a:cs typeface="Roboto Bold Italics"/>
                <a:sym typeface="Roboto Bold Italics"/>
                <a:hlinkClick r:id="rId12" tooltip="https://www.kaggle.com/datasets/fedesoriano/heart-failure-prediction"/>
              </a:rPr>
              <a:t>D</a:t>
            </a:r>
            <a:r>
              <a:rPr lang="en-US" b="true" sz="3500" i="true" u="sng">
                <a:solidFill>
                  <a:srgbClr val="FFFFFF"/>
                </a:solidFill>
                <a:latin typeface="Roboto Bold Italics"/>
                <a:ea typeface="Roboto Bold Italics"/>
                <a:cs typeface="Roboto Bold Italics"/>
                <a:sym typeface="Roboto Bold Italics"/>
                <a:hlinkClick r:id="rId13" tooltip="https://www.kaggle.com/datasets/fedesoriano/heart-failure-prediction"/>
              </a:rPr>
              <a:t>ataset | Kaggle</a:t>
            </a:r>
            <a:r>
              <a:rPr lang="en-US" b="true" sz="3500" i="true">
                <a:solidFill>
                  <a:srgbClr val="FFFFFF"/>
                </a:solidFill>
                <a:latin typeface="Roboto Bold Italics"/>
                <a:ea typeface="Roboto Bold Italics"/>
                <a:cs typeface="Roboto Bold Italics"/>
                <a:sym typeface="Roboto Bold Italics"/>
              </a:rPr>
              <a:t>  </a:t>
            </a:r>
          </a:p>
          <a:p>
            <a:pPr algn="just" marL="755651" indent="-377825" lvl="1">
              <a:lnSpc>
                <a:spcPts val="5250"/>
              </a:lnSpc>
              <a:buFont typeface="Arial"/>
              <a:buChar char="•"/>
            </a:pPr>
            <a:r>
              <a:rPr lang="en-US" b="true" sz="3500" i="true">
                <a:solidFill>
                  <a:srgbClr val="FFFFFF"/>
                </a:solidFill>
                <a:latin typeface="Roboto Bold Italics"/>
                <a:ea typeface="Roboto Bold Italics"/>
                <a:cs typeface="Roboto Bold Italics"/>
                <a:sym typeface="Roboto Bold Italics"/>
              </a:rPr>
              <a:t>Teknik machine learning: Logistic Regression, K-Nearest Neighbors, Naïve Bayes, Decision Tree</a:t>
            </a:r>
          </a:p>
          <a:p>
            <a:pPr algn="just" marL="755651" indent="-377825" lvl="1">
              <a:lnSpc>
                <a:spcPts val="5250"/>
              </a:lnSpc>
              <a:buFont typeface="Arial"/>
              <a:buChar char="•"/>
            </a:pPr>
            <a:r>
              <a:rPr lang="en-US" b="true" sz="3500" i="true">
                <a:solidFill>
                  <a:srgbClr val="FFFFFF"/>
                </a:solidFill>
                <a:latin typeface="Roboto Bold Italics"/>
                <a:ea typeface="Roboto Bold Italics"/>
                <a:cs typeface="Roboto Bold Italics"/>
                <a:sym typeface="Roboto Bold Italics"/>
              </a:rPr>
              <a:t>Metrik evaluasi: Accuracy, Precision, Recall, F1-Score, ROC Curve, AUC Score</a:t>
            </a:r>
          </a:p>
          <a:p>
            <a:pPr algn="just">
              <a:lnSpc>
                <a:spcPts val="5250"/>
              </a:lnSpc>
            </a:pP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640274">
            <a:off x="-794302" y="-1604274"/>
            <a:ext cx="19876604" cy="13495548"/>
          </a:xfrm>
          <a:custGeom>
            <a:avLst/>
            <a:gdLst/>
            <a:ahLst/>
            <a:cxnLst/>
            <a:rect r="r" b="b" t="t" l="l"/>
            <a:pathLst>
              <a:path h="13495548" w="19876604">
                <a:moveTo>
                  <a:pt x="1904880" y="0"/>
                </a:moveTo>
                <a:lnTo>
                  <a:pt x="19876604" y="3386453"/>
                </a:lnTo>
                <a:lnTo>
                  <a:pt x="17971724" y="13495548"/>
                </a:lnTo>
                <a:lnTo>
                  <a:pt x="0" y="10109095"/>
                </a:lnTo>
                <a:lnTo>
                  <a:pt x="1904880" y="0"/>
                </a:lnTo>
                <a:close/>
              </a:path>
            </a:pathLst>
          </a:custGeom>
          <a:blipFill>
            <a:blip r:embed="rId2"/>
            <a:stretch>
              <a:fillRect l="0" t="-23641" r="0" b="-23641"/>
            </a:stretch>
          </a:blipFill>
        </p:spPr>
      </p:sp>
      <p:sp>
        <p:nvSpPr>
          <p:cNvPr name="Freeform 3" id="3"/>
          <p:cNvSpPr/>
          <p:nvPr/>
        </p:nvSpPr>
        <p:spPr>
          <a:xfrm flipH="false" flipV="false" rot="4564441">
            <a:off x="-6344982" y="1380781"/>
            <a:ext cx="10305542" cy="7609138"/>
          </a:xfrm>
          <a:custGeom>
            <a:avLst/>
            <a:gdLst/>
            <a:ahLst/>
            <a:cxnLst/>
            <a:rect r="r" b="b" t="t" l="l"/>
            <a:pathLst>
              <a:path h="7609138" w="10305542">
                <a:moveTo>
                  <a:pt x="0" y="0"/>
                </a:moveTo>
                <a:lnTo>
                  <a:pt x="10305542" y="0"/>
                </a:lnTo>
                <a:lnTo>
                  <a:pt x="10305542" y="7609138"/>
                </a:lnTo>
                <a:lnTo>
                  <a:pt x="0" y="7609138"/>
                </a:lnTo>
                <a:lnTo>
                  <a:pt x="0" y="0"/>
                </a:lnTo>
                <a:close/>
              </a:path>
            </a:pathLst>
          </a:custGeom>
          <a:blipFill>
            <a:blip r:embed="rId3"/>
            <a:stretch>
              <a:fillRect l="0" t="0" r="0" b="0"/>
            </a:stretch>
          </a:blipFill>
        </p:spPr>
      </p:sp>
      <p:sp>
        <p:nvSpPr>
          <p:cNvPr name="Freeform 4" id="4"/>
          <p:cNvSpPr/>
          <p:nvPr/>
        </p:nvSpPr>
        <p:spPr>
          <a:xfrm flipH="false" flipV="false" rot="0">
            <a:off x="12491463" y="4749129"/>
            <a:ext cx="1000151" cy="1020563"/>
          </a:xfrm>
          <a:custGeom>
            <a:avLst/>
            <a:gdLst/>
            <a:ahLst/>
            <a:cxnLst/>
            <a:rect r="r" b="b" t="t" l="l"/>
            <a:pathLst>
              <a:path h="1020563" w="1000151">
                <a:moveTo>
                  <a:pt x="0" y="0"/>
                </a:moveTo>
                <a:lnTo>
                  <a:pt x="1000151" y="0"/>
                </a:lnTo>
                <a:lnTo>
                  <a:pt x="1000151" y="1020563"/>
                </a:lnTo>
                <a:lnTo>
                  <a:pt x="0" y="102056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531700" y="1885403"/>
            <a:ext cx="876988" cy="876988"/>
          </a:xfrm>
          <a:custGeom>
            <a:avLst/>
            <a:gdLst/>
            <a:ahLst/>
            <a:cxnLst/>
            <a:rect r="r" b="b" t="t" l="l"/>
            <a:pathLst>
              <a:path h="876988" w="876988">
                <a:moveTo>
                  <a:pt x="0" y="0"/>
                </a:moveTo>
                <a:lnTo>
                  <a:pt x="876988" y="0"/>
                </a:lnTo>
                <a:lnTo>
                  <a:pt x="876988" y="876988"/>
                </a:lnTo>
                <a:lnTo>
                  <a:pt x="0" y="8769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3624528">
            <a:off x="15778321" y="3813478"/>
            <a:ext cx="7749311" cy="5721735"/>
          </a:xfrm>
          <a:custGeom>
            <a:avLst/>
            <a:gdLst/>
            <a:ahLst/>
            <a:cxnLst/>
            <a:rect r="r" b="b" t="t" l="l"/>
            <a:pathLst>
              <a:path h="5721735" w="7749311">
                <a:moveTo>
                  <a:pt x="0" y="0"/>
                </a:moveTo>
                <a:lnTo>
                  <a:pt x="7749311" y="0"/>
                </a:lnTo>
                <a:lnTo>
                  <a:pt x="7749311" y="5721734"/>
                </a:lnTo>
                <a:lnTo>
                  <a:pt x="0" y="5721734"/>
                </a:lnTo>
                <a:lnTo>
                  <a:pt x="0" y="0"/>
                </a:lnTo>
                <a:close/>
              </a:path>
            </a:pathLst>
          </a:custGeom>
          <a:blipFill>
            <a:blip r:embed="rId3"/>
            <a:stretch>
              <a:fillRect l="0" t="0" r="0" b="0"/>
            </a:stretch>
          </a:blipFill>
        </p:spPr>
      </p:sp>
      <p:sp>
        <p:nvSpPr>
          <p:cNvPr name="Freeform 7" id="7"/>
          <p:cNvSpPr/>
          <p:nvPr/>
        </p:nvSpPr>
        <p:spPr>
          <a:xfrm flipH="false" flipV="false" rot="-2575760">
            <a:off x="2596912" y="1665830"/>
            <a:ext cx="2022021" cy="1316136"/>
          </a:xfrm>
          <a:custGeom>
            <a:avLst/>
            <a:gdLst/>
            <a:ahLst/>
            <a:cxnLst/>
            <a:rect r="r" b="b" t="t" l="l"/>
            <a:pathLst>
              <a:path h="1316136" w="2022021">
                <a:moveTo>
                  <a:pt x="0" y="0"/>
                </a:moveTo>
                <a:lnTo>
                  <a:pt x="2022021" y="0"/>
                </a:lnTo>
                <a:lnTo>
                  <a:pt x="2022021" y="1316135"/>
                </a:lnTo>
                <a:lnTo>
                  <a:pt x="0" y="1316135"/>
                </a:lnTo>
                <a:lnTo>
                  <a:pt x="0" y="0"/>
                </a:lnTo>
                <a:close/>
              </a:path>
            </a:pathLst>
          </a:custGeom>
          <a:blipFill>
            <a:blip r:embed="rId8"/>
            <a:stretch>
              <a:fillRect l="0" t="0" r="0" b="0"/>
            </a:stretch>
          </a:blipFill>
        </p:spPr>
      </p:sp>
      <p:sp>
        <p:nvSpPr>
          <p:cNvPr name="Freeform 8" id="8"/>
          <p:cNvSpPr/>
          <p:nvPr/>
        </p:nvSpPr>
        <p:spPr>
          <a:xfrm flipH="false" flipV="false" rot="1702604">
            <a:off x="-174084" y="8664312"/>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9"/>
            <a:stretch>
              <a:fillRect l="0" t="0" r="0" b="0"/>
            </a:stretch>
          </a:blipFill>
        </p:spPr>
      </p:sp>
      <p:sp>
        <p:nvSpPr>
          <p:cNvPr name="Freeform 9" id="9"/>
          <p:cNvSpPr/>
          <p:nvPr/>
        </p:nvSpPr>
        <p:spPr>
          <a:xfrm flipH="false" flipV="false" rot="-2550353">
            <a:off x="11244585" y="7248514"/>
            <a:ext cx="5610623" cy="995886"/>
          </a:xfrm>
          <a:custGeom>
            <a:avLst/>
            <a:gdLst/>
            <a:ahLst/>
            <a:cxnLst/>
            <a:rect r="r" b="b" t="t" l="l"/>
            <a:pathLst>
              <a:path h="995886" w="5610623">
                <a:moveTo>
                  <a:pt x="0" y="0"/>
                </a:moveTo>
                <a:lnTo>
                  <a:pt x="5610623" y="0"/>
                </a:lnTo>
                <a:lnTo>
                  <a:pt x="5610623" y="995886"/>
                </a:lnTo>
                <a:lnTo>
                  <a:pt x="0" y="995886"/>
                </a:lnTo>
                <a:lnTo>
                  <a:pt x="0" y="0"/>
                </a:lnTo>
                <a:close/>
              </a:path>
            </a:pathLst>
          </a:custGeom>
          <a:blipFill>
            <a:blip r:embed="rId10"/>
            <a:stretch>
              <a:fillRect l="0" t="0" r="0" b="0"/>
            </a:stretch>
          </a:blipFill>
        </p:spPr>
      </p:sp>
      <p:sp>
        <p:nvSpPr>
          <p:cNvPr name="Freeform 10" id="10"/>
          <p:cNvSpPr/>
          <p:nvPr/>
        </p:nvSpPr>
        <p:spPr>
          <a:xfrm flipH="false" flipV="false" rot="1493894">
            <a:off x="11236346" y="158231"/>
            <a:ext cx="8088418" cy="1142489"/>
          </a:xfrm>
          <a:custGeom>
            <a:avLst/>
            <a:gdLst/>
            <a:ahLst/>
            <a:cxnLst/>
            <a:rect r="r" b="b" t="t" l="l"/>
            <a:pathLst>
              <a:path h="1142489" w="8088418">
                <a:moveTo>
                  <a:pt x="0" y="0"/>
                </a:moveTo>
                <a:lnTo>
                  <a:pt x="8088418" y="0"/>
                </a:lnTo>
                <a:lnTo>
                  <a:pt x="8088418" y="1142489"/>
                </a:lnTo>
                <a:lnTo>
                  <a:pt x="0" y="1142489"/>
                </a:lnTo>
                <a:lnTo>
                  <a:pt x="0" y="0"/>
                </a:lnTo>
                <a:close/>
              </a:path>
            </a:pathLst>
          </a:custGeom>
          <a:blipFill>
            <a:blip r:embed="rId9"/>
            <a:stretch>
              <a:fillRect l="0" t="0" r="0" b="0"/>
            </a:stretch>
          </a:blipFill>
        </p:spPr>
      </p:sp>
      <p:sp>
        <p:nvSpPr>
          <p:cNvPr name="Freeform 11" id="11"/>
          <p:cNvSpPr/>
          <p:nvPr/>
        </p:nvSpPr>
        <p:spPr>
          <a:xfrm flipH="false" flipV="false" rot="0">
            <a:off x="4796386" y="1439885"/>
            <a:ext cx="6250883" cy="4114217"/>
          </a:xfrm>
          <a:custGeom>
            <a:avLst/>
            <a:gdLst/>
            <a:ahLst/>
            <a:cxnLst/>
            <a:rect r="r" b="b" t="t" l="l"/>
            <a:pathLst>
              <a:path h="4114217" w="6250883">
                <a:moveTo>
                  <a:pt x="0" y="0"/>
                </a:moveTo>
                <a:lnTo>
                  <a:pt x="6250882" y="0"/>
                </a:lnTo>
                <a:lnTo>
                  <a:pt x="6250882" y="4114217"/>
                </a:lnTo>
                <a:lnTo>
                  <a:pt x="0" y="411421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6408688" y="4732898"/>
            <a:ext cx="4489721" cy="4114217"/>
          </a:xfrm>
          <a:custGeom>
            <a:avLst/>
            <a:gdLst/>
            <a:ahLst/>
            <a:cxnLst/>
            <a:rect r="r" b="b" t="t" l="l"/>
            <a:pathLst>
              <a:path h="4114217" w="4489721">
                <a:moveTo>
                  <a:pt x="0" y="0"/>
                </a:moveTo>
                <a:lnTo>
                  <a:pt x="4489721" y="0"/>
                </a:lnTo>
                <a:lnTo>
                  <a:pt x="4489721" y="4114217"/>
                </a:lnTo>
                <a:lnTo>
                  <a:pt x="0" y="411421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13" id="13"/>
          <p:cNvSpPr txBox="true"/>
          <p:nvPr/>
        </p:nvSpPr>
        <p:spPr>
          <a:xfrm rot="0">
            <a:off x="7394499" y="2448066"/>
            <a:ext cx="6097116" cy="2811344"/>
          </a:xfrm>
          <a:prstGeom prst="rect">
            <a:avLst/>
          </a:prstGeom>
        </p:spPr>
        <p:txBody>
          <a:bodyPr anchor="t" rtlCol="false" tIns="0" lIns="0" bIns="0" rIns="0">
            <a:spAutoFit/>
          </a:bodyPr>
          <a:lstStyle/>
          <a:p>
            <a:pPr algn="ctr">
              <a:lnSpc>
                <a:spcPts val="23019"/>
              </a:lnSpc>
            </a:pPr>
            <a:r>
              <a:rPr lang="en-US" sz="16442">
                <a:solidFill>
                  <a:srgbClr val="E1F2FF"/>
                </a:solidFill>
                <a:latin typeface="Carlsons Script"/>
                <a:ea typeface="Carlsons Script"/>
                <a:cs typeface="Carlsons Script"/>
                <a:sym typeface="Carlsons Script"/>
              </a:rPr>
              <a:t>hank</a:t>
            </a:r>
          </a:p>
        </p:txBody>
      </p:sp>
      <p:sp>
        <p:nvSpPr>
          <p:cNvPr name="TextBox 14" id="14"/>
          <p:cNvSpPr txBox="true"/>
          <p:nvPr/>
        </p:nvSpPr>
        <p:spPr>
          <a:xfrm rot="0">
            <a:off x="9196349" y="5227172"/>
            <a:ext cx="3404122" cy="2811344"/>
          </a:xfrm>
          <a:prstGeom prst="rect">
            <a:avLst/>
          </a:prstGeom>
        </p:spPr>
        <p:txBody>
          <a:bodyPr anchor="t" rtlCol="false" tIns="0" lIns="0" bIns="0" rIns="0">
            <a:spAutoFit/>
          </a:bodyPr>
          <a:lstStyle/>
          <a:p>
            <a:pPr algn="ctr">
              <a:lnSpc>
                <a:spcPts val="23019"/>
              </a:lnSpc>
            </a:pPr>
            <a:r>
              <a:rPr lang="en-US" sz="16442">
                <a:solidFill>
                  <a:srgbClr val="E1F2FF"/>
                </a:solidFill>
                <a:latin typeface="Carlsons Script"/>
                <a:ea typeface="Carlsons Script"/>
                <a:cs typeface="Carlsons Script"/>
                <a:sym typeface="Carlsons Script"/>
              </a:rPr>
              <a:t>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DAGlkiYTRk8</dc:identifier>
  <dcterms:modified xsi:type="dcterms:W3CDTF">2011-08-01T06:04:30Z</dcterms:modified>
  <cp:revision>1</cp:revision>
  <dc:title>Tugas03_Classification</dc:title>
</cp:coreProperties>
</file>